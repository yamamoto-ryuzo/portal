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9" r:id="rId1"/>
  </p:sldMasterIdLst>
  <p:notesMasterIdLst>
    <p:notesMasterId r:id="rId4"/>
  </p:notesMasterIdLst>
  <p:sldIdLst>
    <p:sldId id="323" r:id="rId2"/>
    <p:sldId id="32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7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BD786"/>
    <a:srgbClr val="F7797D"/>
    <a:srgbClr val="78FFD6"/>
    <a:srgbClr val="A8FF78"/>
    <a:srgbClr val="C6FFD3"/>
    <a:srgbClr val="000000"/>
    <a:srgbClr val="7D7D7D"/>
    <a:srgbClr val="003366"/>
    <a:srgbClr val="B00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78788" autoAdjust="0"/>
  </p:normalViewPr>
  <p:slideViewPr>
    <p:cSldViewPr showGuides="1">
      <p:cViewPr varScale="1">
        <p:scale>
          <a:sx n="87" d="100"/>
          <a:sy n="87" d="100"/>
        </p:scale>
        <p:origin x="1428" y="66"/>
      </p:cViewPr>
      <p:guideLst>
        <p:guide orient="horz" pos="2167"/>
        <p:guide pos="37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9738D-D75D-40B1-BF46-FC9ACBB15E75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5198F-549A-4508-B579-8CA394E94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552E-3056-DED2-365A-66C4530B8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C76D74F-FFC5-9EF4-6CCF-E6B4807E6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C0552A-6804-988A-2766-4E2FA46C5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0CD7FB-DF7A-2C6D-E1A3-35A694D28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5198F-549A-4508-B579-8CA394E9478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037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11EB-E91D-1AF7-C123-CF35650D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476AD9-6A4D-66A1-BC42-E07BF4DE8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1C1AD73-487C-2B02-FDEF-59A1EDA07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CF6E82-2701-B30E-E6F9-56BBB2268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5198F-549A-4508-B579-8CA394E9478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66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86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624458-F4DE-4903-8109-826F452448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95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hyperlink" Target="https://www.nilim.go.jp/lab/qbg/bimcim/standard.html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6.png"/><Relationship Id="rId1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2" Type="http://schemas.openxmlformats.org/officeDocument/2006/relationships/image" Target="../media/image11.png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.png"/><Relationship Id="rId5" Type="http://schemas.openxmlformats.org/officeDocument/2006/relationships/image" Target="../media/image12.png"/><Relationship Id="rId1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hyperlink" Target="https://www.nilim.go.jp/lab/qbg/bimcim/standard.html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9CB56-041B-43D7-0773-73F3CE00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雲 114">
            <a:extLst>
              <a:ext uri="{FF2B5EF4-FFF2-40B4-BE49-F238E27FC236}">
                <a16:creationId xmlns:a16="http://schemas.microsoft.com/office/drawing/2014/main" id="{C2636901-8702-64D4-1E1C-8D9AB072AB51}"/>
              </a:ext>
            </a:extLst>
          </p:cNvPr>
          <p:cNvSpPr/>
          <p:nvPr/>
        </p:nvSpPr>
        <p:spPr>
          <a:xfrm>
            <a:off x="335360" y="673296"/>
            <a:ext cx="10345069" cy="5683282"/>
          </a:xfrm>
          <a:prstGeom prst="cloud">
            <a:avLst/>
          </a:prstGeom>
          <a:ln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dk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B08942-957E-64BA-252E-3D0C7C02355E}"/>
              </a:ext>
            </a:extLst>
          </p:cNvPr>
          <p:cNvSpPr txBox="1"/>
          <p:nvPr/>
        </p:nvSpPr>
        <p:spPr>
          <a:xfrm>
            <a:off x="449049" y="127282"/>
            <a:ext cx="4156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ﾌﾟﾛｼﾞｪｸﾄ</a:t>
            </a:r>
            <a:r>
              <a:rPr lang="en-US" altLang="ja-JP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CED</a:t>
            </a:r>
            <a:r>
              <a:rPr lang="ja-JP" altLang="en-US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基盤</a:t>
            </a:r>
            <a:r>
              <a:rPr lang="en-US" altLang="ja-JP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  <a:endParaRPr lang="ja-JP" altLang="en-US" sz="3200" b="1" i="0" u="sng" dirty="0">
              <a:solidFill>
                <a:srgbClr val="00B0F0"/>
              </a:solidFill>
              <a:effectLst/>
              <a:highlight>
                <a:srgbClr val="FFFFFF"/>
              </a:highlight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352AC834-2BC1-7AA7-0D74-46170B2FE949}"/>
              </a:ext>
            </a:extLst>
          </p:cNvPr>
          <p:cNvCxnSpPr>
            <a:cxnSpLocks/>
            <a:stCxn id="26" idx="1"/>
            <a:endCxn id="36" idx="2"/>
          </p:cNvCxnSpPr>
          <p:nvPr/>
        </p:nvCxnSpPr>
        <p:spPr>
          <a:xfrm rot="10800000">
            <a:off x="6434589" y="1907218"/>
            <a:ext cx="2425555" cy="727443"/>
          </a:xfrm>
          <a:prstGeom prst="bentConnector2">
            <a:avLst/>
          </a:prstGeom>
          <a:ln w="635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B8DE16F0-8088-B153-9A1E-441B9F6669D9}"/>
              </a:ext>
            </a:extLst>
          </p:cNvPr>
          <p:cNvCxnSpPr>
            <a:cxnSpLocks/>
            <a:stCxn id="1037" idx="3"/>
            <a:endCxn id="36" idx="2"/>
          </p:cNvCxnSpPr>
          <p:nvPr/>
        </p:nvCxnSpPr>
        <p:spPr>
          <a:xfrm flipV="1">
            <a:off x="4106596" y="1907217"/>
            <a:ext cx="2327992" cy="718722"/>
          </a:xfrm>
          <a:prstGeom prst="bentConnector2">
            <a:avLst/>
          </a:prstGeom>
          <a:ln w="635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コネクタ: カギ線 1050">
            <a:extLst>
              <a:ext uri="{FF2B5EF4-FFF2-40B4-BE49-F238E27FC236}">
                <a16:creationId xmlns:a16="http://schemas.microsoft.com/office/drawing/2014/main" id="{F7891F06-47A6-A25C-9A39-B51C963F44D9}"/>
              </a:ext>
            </a:extLst>
          </p:cNvPr>
          <p:cNvCxnSpPr>
            <a:cxnSpLocks/>
            <a:stCxn id="71" idx="3"/>
            <a:endCxn id="36" idx="2"/>
          </p:cNvCxnSpPr>
          <p:nvPr/>
        </p:nvCxnSpPr>
        <p:spPr>
          <a:xfrm flipV="1">
            <a:off x="4384557" y="1907217"/>
            <a:ext cx="2050031" cy="3530070"/>
          </a:xfrm>
          <a:prstGeom prst="bentConnector2">
            <a:avLst/>
          </a:prstGeom>
          <a:ln w="635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2AB50BB-B6D6-61B9-FA3A-40B62F75DCDE}"/>
              </a:ext>
            </a:extLst>
          </p:cNvPr>
          <p:cNvGrpSpPr/>
          <p:nvPr/>
        </p:nvGrpSpPr>
        <p:grpSpPr>
          <a:xfrm>
            <a:off x="4356406" y="317637"/>
            <a:ext cx="4156364" cy="1589580"/>
            <a:chOff x="4249281" y="1184900"/>
            <a:chExt cx="4156364" cy="1589580"/>
          </a:xfrm>
        </p:grpSpPr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535FE33-194B-8AFB-6CA2-C7C01EDFF096}"/>
                </a:ext>
              </a:extLst>
            </p:cNvPr>
            <p:cNvCxnSpPr>
              <a:cxnSpLocks/>
              <a:stCxn id="36" idx="1"/>
              <a:endCxn id="36" idx="3"/>
            </p:cNvCxnSpPr>
            <p:nvPr/>
          </p:nvCxnSpPr>
          <p:spPr>
            <a:xfrm>
              <a:off x="4249281" y="2157520"/>
              <a:ext cx="4156364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D0CC26E9-E455-A24C-D38D-C835C60428BA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 flipV="1">
              <a:off x="6317414" y="2157520"/>
              <a:ext cx="10049" cy="616960"/>
            </a:xfrm>
            <a:prstGeom prst="line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D1CED3E8-5834-F00E-1176-45751174337C}"/>
                </a:ext>
              </a:extLst>
            </p:cNvPr>
            <p:cNvGrpSpPr/>
            <p:nvPr/>
          </p:nvGrpSpPr>
          <p:grpSpPr>
            <a:xfrm>
              <a:off x="4249281" y="1540560"/>
              <a:ext cx="4156364" cy="1233920"/>
              <a:chOff x="3935760" y="2996952"/>
              <a:chExt cx="4156364" cy="1233920"/>
            </a:xfrm>
          </p:grpSpPr>
          <p:sp>
            <p:nvSpPr>
              <p:cNvPr id="36" name="四角形: 角を丸くする 35">
                <a:extLst>
                  <a:ext uri="{FF2B5EF4-FFF2-40B4-BE49-F238E27FC236}">
                    <a16:creationId xmlns:a16="http://schemas.microsoft.com/office/drawing/2014/main" id="{59FF9888-12E7-F675-7D48-BB7DB683A528}"/>
                  </a:ext>
                </a:extLst>
              </p:cNvPr>
              <p:cNvSpPr/>
              <p:nvPr/>
            </p:nvSpPr>
            <p:spPr>
              <a:xfrm>
                <a:off x="3935760" y="2996952"/>
                <a:ext cx="4156364" cy="1233920"/>
              </a:xfrm>
              <a:prstGeom prst="roundRect">
                <a:avLst>
                  <a:gd name="adj" fmla="val 24007"/>
                </a:avLst>
              </a:prstGeom>
              <a:solidFill>
                <a:schemeClr val="lt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ja-JP" altLang="en-US" sz="12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4A9C5FA7-FB7A-F7E3-F530-4955F1A706B7}"/>
                  </a:ext>
                </a:extLst>
              </p:cNvPr>
              <p:cNvSpPr txBox="1"/>
              <p:nvPr/>
            </p:nvSpPr>
            <p:spPr>
              <a:xfrm>
                <a:off x="4770860" y="3178066"/>
                <a:ext cx="23765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属性情報：</a:t>
                </a:r>
                <a:r>
                  <a:rPr kumimoji="1" lang="en-US" altLang="ja-JP" dirty="0"/>
                  <a:t>CSV</a:t>
                </a:r>
                <a:r>
                  <a:rPr kumimoji="1" lang="ja-JP" altLang="en-US" dirty="0"/>
                  <a:t>連携</a:t>
                </a:r>
              </a:p>
            </p:txBody>
          </p: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6FA843B0-DE9E-5E23-1FC1-A2302CBE490B}"/>
                  </a:ext>
                </a:extLst>
              </p:cNvPr>
              <p:cNvSpPr txBox="1"/>
              <p:nvPr/>
            </p:nvSpPr>
            <p:spPr>
              <a:xfrm>
                <a:off x="4198020" y="3738781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施工計画</a:t>
                </a:r>
              </a:p>
            </p:txBody>
          </p:sp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EAA3A383-926A-9CC7-8D02-8FC6F50CA1FF}"/>
                  </a:ext>
                </a:extLst>
              </p:cNvPr>
              <p:cNvSpPr txBox="1"/>
              <p:nvPr/>
            </p:nvSpPr>
            <p:spPr>
              <a:xfrm>
                <a:off x="6003892" y="3736605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積算（数量計算）</a:t>
                </a:r>
              </a:p>
            </p:txBody>
          </p:sp>
        </p:grpSp>
        <p:grpSp>
          <p:nvGrpSpPr>
            <p:cNvPr id="1060" name="グループ化 1059">
              <a:extLst>
                <a:ext uri="{FF2B5EF4-FFF2-40B4-BE49-F238E27FC236}">
                  <a16:creationId xmlns:a16="http://schemas.microsoft.com/office/drawing/2014/main" id="{D0842B7B-9998-8347-0B5C-80D8C4FF2420}"/>
                </a:ext>
              </a:extLst>
            </p:cNvPr>
            <p:cNvGrpSpPr/>
            <p:nvPr/>
          </p:nvGrpSpPr>
          <p:grpSpPr>
            <a:xfrm>
              <a:off x="5072990" y="1184900"/>
              <a:ext cx="2565597" cy="476806"/>
              <a:chOff x="2639617" y="769479"/>
              <a:chExt cx="2930320" cy="476806"/>
            </a:xfrm>
          </p:grpSpPr>
          <p:sp>
            <p:nvSpPr>
              <p:cNvPr id="1055" name="四角形: 角を丸くする 1054">
                <a:extLst>
                  <a:ext uri="{FF2B5EF4-FFF2-40B4-BE49-F238E27FC236}">
                    <a16:creationId xmlns:a16="http://schemas.microsoft.com/office/drawing/2014/main" id="{1B109364-7DB2-6C2F-43CC-C15B800AF6F7}"/>
                  </a:ext>
                </a:extLst>
              </p:cNvPr>
              <p:cNvSpPr/>
              <p:nvPr/>
            </p:nvSpPr>
            <p:spPr>
              <a:xfrm>
                <a:off x="2639617" y="769479"/>
                <a:ext cx="2930320" cy="4768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446088" indent="-182563" algn="ctr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ja-JP" altLang="en-US" sz="1200" dirty="0">
                    <a:solidFill>
                      <a:schemeClr val="tx1"/>
                    </a:solidFill>
                    <a:latin typeface="+mn-ea"/>
                  </a:rPr>
                  <a:t>型式変換による連携</a:t>
                </a:r>
                <a:endParaRPr kumimoji="1" lang="en-US" altLang="ja-JP" sz="1200" dirty="0">
                  <a:solidFill>
                    <a:schemeClr val="tx1"/>
                  </a:solidFill>
                  <a:latin typeface="+mn-ea"/>
                </a:endParaRPr>
              </a:p>
              <a:p>
                <a:pPr marL="446088" indent="-182563" algn="ctr">
                  <a:lnSpc>
                    <a:spcPts val="500"/>
                  </a:lnSpc>
                  <a:spcAft>
                    <a:spcPts val="600"/>
                  </a:spcAft>
                </a:pPr>
                <a:r>
                  <a:rPr kumimoji="1" lang="ja-JP" altLang="en-US" sz="1200" dirty="0">
                    <a:solidFill>
                      <a:schemeClr val="tx1"/>
                    </a:solidFill>
                    <a:latin typeface="+mn-ea"/>
                  </a:rPr>
                  <a:t>様々な台帳と連携　</a:t>
                </a:r>
              </a:p>
            </p:txBody>
          </p:sp>
          <p:pic>
            <p:nvPicPr>
              <p:cNvPr id="1059" name="図 1058">
                <a:extLst>
                  <a:ext uri="{FF2B5EF4-FFF2-40B4-BE49-F238E27FC236}">
                    <a16:creationId xmlns:a16="http://schemas.microsoft.com/office/drawing/2014/main" id="{575466C0-1716-2F94-2F63-DB63FA8CAF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477" y="850093"/>
                <a:ext cx="373266" cy="319038"/>
              </a:xfrm>
              <a:prstGeom prst="rect">
                <a:avLst/>
              </a:prstGeom>
            </p:spPr>
          </p:pic>
        </p:grpSp>
      </p:grp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2BFAA1CB-4B5E-1EE9-6D41-56CB5180175C}"/>
              </a:ext>
            </a:extLst>
          </p:cNvPr>
          <p:cNvCxnSpPr>
            <a:cxnSpLocks/>
            <a:stCxn id="1037" idx="2"/>
            <a:endCxn id="71" idx="0"/>
          </p:cNvCxnSpPr>
          <p:nvPr/>
        </p:nvCxnSpPr>
        <p:spPr>
          <a:xfrm rot="16200000" flipH="1">
            <a:off x="2203225" y="3748922"/>
            <a:ext cx="820946" cy="37086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0CEF2AA8-DCE5-D068-419E-25A49490006B}"/>
              </a:ext>
            </a:extLst>
          </p:cNvPr>
          <p:cNvCxnSpPr>
            <a:cxnSpLocks/>
            <a:stCxn id="1028" idx="0"/>
            <a:endCxn id="26" idx="2"/>
          </p:cNvCxnSpPr>
          <p:nvPr/>
        </p:nvCxnSpPr>
        <p:spPr>
          <a:xfrm rot="16200000" flipV="1">
            <a:off x="9690894" y="3550655"/>
            <a:ext cx="862788" cy="1979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4EABFFD1-34AF-1478-0383-4BE935FA5516}"/>
              </a:ext>
            </a:extLst>
          </p:cNvPr>
          <p:cNvGrpSpPr/>
          <p:nvPr/>
        </p:nvGrpSpPr>
        <p:grpSpPr>
          <a:xfrm>
            <a:off x="8860578" y="3983039"/>
            <a:ext cx="2525398" cy="2646956"/>
            <a:chOff x="9127236" y="3718951"/>
            <a:chExt cx="2525398" cy="2646956"/>
          </a:xfrm>
        </p:grpSpPr>
        <p:pic>
          <p:nvPicPr>
            <p:cNvPr id="1028" name="Picture 4" descr="見出し画像">
              <a:extLst>
                <a:ext uri="{FF2B5EF4-FFF2-40B4-BE49-F238E27FC236}">
                  <a16:creationId xmlns:a16="http://schemas.microsoft.com/office/drawing/2014/main" id="{153DCA27-C9E4-74BD-45FC-7B2FDA83B3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24" t="22307" r="9289" b="22840"/>
            <a:stretch>
              <a:fillRect/>
            </a:stretch>
          </p:blipFill>
          <p:spPr bwMode="auto">
            <a:xfrm>
              <a:off x="9127236" y="3718951"/>
              <a:ext cx="2525397" cy="8825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A54FFC3-DC37-31B8-6764-36A6515003A8}"/>
                </a:ext>
              </a:extLst>
            </p:cNvPr>
            <p:cNvSpPr txBox="1"/>
            <p:nvPr/>
          </p:nvSpPr>
          <p:spPr>
            <a:xfrm>
              <a:off x="9127236" y="5719576"/>
              <a:ext cx="252539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dirty="0"/>
                <a:t>3DTILES</a:t>
              </a:r>
              <a:r>
                <a:rPr kumimoji="1" lang="ja-JP" altLang="en-US" dirty="0"/>
                <a:t>による</a:t>
              </a:r>
              <a:endParaRPr kumimoji="1" lang="en-US" altLang="ja-JP" dirty="0"/>
            </a:p>
            <a:p>
              <a:pPr algn="ctr"/>
              <a:r>
                <a:rPr kumimoji="1" lang="ja-JP" altLang="en-US" dirty="0"/>
                <a:t>可視化に特化</a:t>
              </a:r>
              <a:endParaRPr kumimoji="1" lang="en-US" altLang="ja-JP" dirty="0"/>
            </a:p>
          </p:txBody>
        </p:sp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D13E0A89-4CFF-25C6-CB01-E739D8A8E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98355" y="4601547"/>
              <a:ext cx="954279" cy="1114917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A9157FB9-D7D9-08C6-8031-F06F56ECD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27237" y="4603103"/>
              <a:ext cx="950931" cy="1140189"/>
            </a:xfrm>
            <a:prstGeom prst="rect">
              <a:avLst/>
            </a:prstGeom>
            <a:ln w="44450">
              <a:solidFill>
                <a:srgbClr val="00B0F0"/>
              </a:solidFill>
            </a:ln>
          </p:spPr>
        </p:pic>
      </p:grp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BE0F942D-48D5-176A-3D69-CD9DCD0DFFFB}"/>
              </a:ext>
            </a:extLst>
          </p:cNvPr>
          <p:cNvCxnSpPr>
            <a:cxnSpLocks/>
            <a:stCxn id="66" idx="3"/>
            <a:endCxn id="32" idx="1"/>
          </p:cNvCxnSpPr>
          <p:nvPr/>
        </p:nvCxnSpPr>
        <p:spPr>
          <a:xfrm flipV="1">
            <a:off x="4374290" y="5437286"/>
            <a:ext cx="4486289" cy="374077"/>
          </a:xfrm>
          <a:prstGeom prst="bentConnector3">
            <a:avLst>
              <a:gd name="adj1" fmla="val 50000"/>
            </a:avLst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6D9428-6AEF-C338-402D-F30CB4A45F04}"/>
              </a:ext>
            </a:extLst>
          </p:cNvPr>
          <p:cNvSpPr txBox="1"/>
          <p:nvPr/>
        </p:nvSpPr>
        <p:spPr>
          <a:xfrm>
            <a:off x="2748145" y="3430741"/>
            <a:ext cx="27437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図形（寸法等文字情報）</a:t>
            </a:r>
            <a:endParaRPr kumimoji="1" lang="en-US" altLang="ja-JP" dirty="0"/>
          </a:p>
          <a:p>
            <a:r>
              <a:rPr kumimoji="1" lang="en-US" altLang="ja-JP" dirty="0"/>
              <a:t>※DWG</a:t>
            </a:r>
            <a:r>
              <a:rPr kumimoji="1" lang="ja-JP" altLang="en-US" dirty="0"/>
              <a:t>のｲﾝﾎﾟｰﾄ機能</a:t>
            </a:r>
            <a:endParaRPr kumimoji="1" lang="en-US" altLang="ja-JP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5E75DC51-510A-856B-ED5B-9156364E62D4}"/>
              </a:ext>
            </a:extLst>
          </p:cNvPr>
          <p:cNvSpPr txBox="1"/>
          <p:nvPr/>
        </p:nvSpPr>
        <p:spPr>
          <a:xfrm>
            <a:off x="4695804" y="5878102"/>
            <a:ext cx="34116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GEOJSON/XYZ</a:t>
            </a:r>
            <a:r>
              <a:rPr kumimoji="1" lang="ja-JP" altLang="en-US" dirty="0"/>
              <a:t>（高速化</a:t>
            </a:r>
            <a:r>
              <a:rPr kumimoji="1" lang="en-US" altLang="ja-JP" dirty="0"/>
              <a:t>96DPI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pic>
        <p:nvPicPr>
          <p:cNvPr id="116" name="図 115">
            <a:extLst>
              <a:ext uri="{FF2B5EF4-FFF2-40B4-BE49-F238E27FC236}">
                <a16:creationId xmlns:a16="http://schemas.microsoft.com/office/drawing/2014/main" id="{D56011AE-8EB0-919B-BAA1-FDBF05D26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0477" y="782154"/>
            <a:ext cx="1070055" cy="579885"/>
          </a:xfrm>
          <a:prstGeom prst="rect">
            <a:avLst/>
          </a:prstGeom>
          <a:ln w="41275">
            <a:solidFill>
              <a:srgbClr val="0000FF"/>
            </a:solidFill>
          </a:ln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B915B556-E7BF-9C4D-BC0B-06959E9D9E70}"/>
              </a:ext>
            </a:extLst>
          </p:cNvPr>
          <p:cNvGrpSpPr/>
          <p:nvPr/>
        </p:nvGrpSpPr>
        <p:grpSpPr>
          <a:xfrm>
            <a:off x="786470" y="3928256"/>
            <a:ext cx="4130392" cy="2768379"/>
            <a:chOff x="786470" y="3928256"/>
            <a:chExt cx="4130392" cy="2768379"/>
          </a:xfrm>
        </p:grpSpPr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B80547EC-0900-5927-D2A2-E22A9D2A7081}"/>
                </a:ext>
              </a:extLst>
            </p:cNvPr>
            <p:cNvGrpSpPr/>
            <p:nvPr/>
          </p:nvGrpSpPr>
          <p:grpSpPr>
            <a:xfrm>
              <a:off x="786470" y="3928256"/>
              <a:ext cx="3598087" cy="2768379"/>
              <a:chOff x="963285" y="3828973"/>
              <a:chExt cx="3598087" cy="2768379"/>
            </a:xfrm>
          </p:grpSpPr>
          <p:sp>
            <p:nvSpPr>
              <p:cNvPr id="71" name="四角形: 角を丸くする 70">
                <a:extLst>
                  <a:ext uri="{FF2B5EF4-FFF2-40B4-BE49-F238E27FC236}">
                    <a16:creationId xmlns:a16="http://schemas.microsoft.com/office/drawing/2014/main" id="{FC503A3B-6CF2-DED2-32DC-AADDEA55FF66}"/>
                  </a:ext>
                </a:extLst>
              </p:cNvPr>
              <p:cNvSpPr/>
              <p:nvPr/>
            </p:nvSpPr>
            <p:spPr>
              <a:xfrm>
                <a:off x="1056739" y="4078655"/>
                <a:ext cx="3504633" cy="2518697"/>
              </a:xfrm>
              <a:prstGeom prst="roundRect">
                <a:avLst>
                  <a:gd name="adj" fmla="val 19858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2000" dirty="0">
                  <a:solidFill>
                    <a:srgbClr val="FF0000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2000" dirty="0">
                  <a:solidFill>
                    <a:srgbClr val="FF0000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ja-JP" altLang="en-US" sz="20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pic>
            <p:nvPicPr>
              <p:cNvPr id="110" name="グラフィックス 109">
                <a:extLst>
                  <a:ext uri="{FF2B5EF4-FFF2-40B4-BE49-F238E27FC236}">
                    <a16:creationId xmlns:a16="http://schemas.microsoft.com/office/drawing/2014/main" id="{98C1F346-A57C-6625-6419-42F011938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721687" y="4033171"/>
                <a:ext cx="2029381" cy="971184"/>
              </a:xfrm>
              <a:prstGeom prst="rect">
                <a:avLst/>
              </a:prstGeom>
            </p:spPr>
          </p:pic>
          <p:sp>
            <p:nvSpPr>
              <p:cNvPr id="111" name="四角形: 角を丸くする 110">
                <a:extLst>
                  <a:ext uri="{FF2B5EF4-FFF2-40B4-BE49-F238E27FC236}">
                    <a16:creationId xmlns:a16="http://schemas.microsoft.com/office/drawing/2014/main" id="{3F7500C3-3DD8-E061-7E5A-D62AECDF3C02}"/>
                  </a:ext>
                </a:extLst>
              </p:cNvPr>
              <p:cNvSpPr/>
              <p:nvPr/>
            </p:nvSpPr>
            <p:spPr>
              <a:xfrm>
                <a:off x="963285" y="3828973"/>
                <a:ext cx="1516804" cy="40805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ja-JP" altLang="en-US" sz="1200" dirty="0">
                    <a:solidFill>
                      <a:schemeClr val="tx1"/>
                    </a:solidFill>
                    <a:latin typeface="+mn-ea"/>
                  </a:rPr>
                  <a:t>誰でも利用可能</a:t>
                </a:r>
              </a:p>
            </p:txBody>
          </p: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2C5B01F9-BF32-45BE-D9BC-47AEDF48A0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739" y="4860679"/>
                <a:ext cx="3494366" cy="1358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1F62C47F-8143-3211-29C8-FC8DD026283E}"/>
                  </a:ext>
                </a:extLst>
              </p:cNvPr>
              <p:cNvSpPr txBox="1"/>
              <p:nvPr/>
            </p:nvSpPr>
            <p:spPr>
              <a:xfrm>
                <a:off x="1102197" y="4973416"/>
                <a:ext cx="344890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dirty="0"/>
                  <a:t>・複雑な情報を整理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・位置情報による見える化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・高品質な報告書作成効率化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・多彩なデータ変換機能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・他システムとの連携</a:t>
                </a:r>
              </a:p>
            </p:txBody>
          </p:sp>
        </p:grpSp>
        <p:pic>
          <p:nvPicPr>
            <p:cNvPr id="117" name="図 116">
              <a:extLst>
                <a:ext uri="{FF2B5EF4-FFF2-40B4-BE49-F238E27FC236}">
                  <a16:creationId xmlns:a16="http://schemas.microsoft.com/office/drawing/2014/main" id="{DEA461B6-E608-F327-6CE3-4ED1F03FD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95950" y="6204655"/>
              <a:ext cx="1120912" cy="381849"/>
            </a:xfrm>
            <a:prstGeom prst="rect">
              <a:avLst/>
            </a:prstGeom>
          </p:spPr>
        </p:pic>
        <p:pic>
          <p:nvPicPr>
            <p:cNvPr id="118" name="Picture 2">
              <a:extLst>
                <a:ext uri="{FF2B5EF4-FFF2-40B4-BE49-F238E27FC236}">
                  <a16:creationId xmlns:a16="http://schemas.microsoft.com/office/drawing/2014/main" id="{CA067CEC-EE2E-8DD0-B29E-8E42242655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3077" y="4061864"/>
              <a:ext cx="735288" cy="735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B4C0DB08-DE37-829C-EFA8-62B48AFA70E9}"/>
              </a:ext>
            </a:extLst>
          </p:cNvPr>
          <p:cNvGrpSpPr/>
          <p:nvPr/>
        </p:nvGrpSpPr>
        <p:grpSpPr>
          <a:xfrm>
            <a:off x="6708360" y="3121392"/>
            <a:ext cx="1878011" cy="600755"/>
            <a:chOff x="4662156" y="4181974"/>
            <a:chExt cx="2440857" cy="600755"/>
          </a:xfrm>
        </p:grpSpPr>
        <p:sp>
          <p:nvSpPr>
            <p:cNvPr id="125" name="四角形: 角を丸くする 124">
              <a:extLst>
                <a:ext uri="{FF2B5EF4-FFF2-40B4-BE49-F238E27FC236}">
                  <a16:creationId xmlns:a16="http://schemas.microsoft.com/office/drawing/2014/main" id="{4F97201E-A085-E2DC-8911-6DD44070CE7D}"/>
                </a:ext>
              </a:extLst>
            </p:cNvPr>
            <p:cNvSpPr/>
            <p:nvPr/>
          </p:nvSpPr>
          <p:spPr>
            <a:xfrm>
              <a:off x="4662156" y="4181974"/>
              <a:ext cx="2440857" cy="600755"/>
            </a:xfrm>
            <a:prstGeom prst="roundRect">
              <a:avLst>
                <a:gd name="adj" fmla="val 1985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2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2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ja-JP" altLang="en-US" sz="2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8931E2B4-B2E0-DEED-CCBE-7186DCA4526F}"/>
                </a:ext>
              </a:extLst>
            </p:cNvPr>
            <p:cNvSpPr txBox="1"/>
            <p:nvPr/>
          </p:nvSpPr>
          <p:spPr>
            <a:xfrm>
              <a:off x="4950051" y="4294195"/>
              <a:ext cx="17517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dirty="0"/>
                <a:t>点群データ</a:t>
              </a:r>
            </a:p>
          </p:txBody>
        </p:sp>
      </p:grp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58DF3F3F-298C-53FB-E916-C7F4B22F8C69}"/>
              </a:ext>
            </a:extLst>
          </p:cNvPr>
          <p:cNvCxnSpPr>
            <a:cxnSpLocks/>
            <a:stCxn id="125" idx="2"/>
            <a:endCxn id="1028" idx="1"/>
          </p:cNvCxnSpPr>
          <p:nvPr/>
        </p:nvCxnSpPr>
        <p:spPr>
          <a:xfrm rot="16200000" flipH="1">
            <a:off x="7902877" y="3466636"/>
            <a:ext cx="702190" cy="1213212"/>
          </a:xfrm>
          <a:prstGeom prst="bentConnector2">
            <a:avLst/>
          </a:prstGeom>
          <a:ln w="635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コネクタ: カギ線 1026">
            <a:extLst>
              <a:ext uri="{FF2B5EF4-FFF2-40B4-BE49-F238E27FC236}">
                <a16:creationId xmlns:a16="http://schemas.microsoft.com/office/drawing/2014/main" id="{33DBF6CB-A7DA-F327-CFFD-0231504CA766}"/>
              </a:ext>
            </a:extLst>
          </p:cNvPr>
          <p:cNvCxnSpPr>
            <a:cxnSpLocks/>
            <a:stCxn id="125" idx="2"/>
            <a:endCxn id="118" idx="3"/>
          </p:cNvCxnSpPr>
          <p:nvPr/>
        </p:nvCxnSpPr>
        <p:spPr>
          <a:xfrm rot="5400000">
            <a:off x="5774186" y="2556327"/>
            <a:ext cx="707361" cy="3039001"/>
          </a:xfrm>
          <a:prstGeom prst="bentConnector2">
            <a:avLst/>
          </a:prstGeom>
          <a:ln w="635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コネクタ: カギ線 1030">
            <a:extLst>
              <a:ext uri="{FF2B5EF4-FFF2-40B4-BE49-F238E27FC236}">
                <a16:creationId xmlns:a16="http://schemas.microsoft.com/office/drawing/2014/main" id="{0C307B0B-0111-7686-4426-65FB3E3BE7BE}"/>
              </a:ext>
            </a:extLst>
          </p:cNvPr>
          <p:cNvCxnSpPr>
            <a:cxnSpLocks/>
            <a:stCxn id="125" idx="0"/>
          </p:cNvCxnSpPr>
          <p:nvPr/>
        </p:nvCxnSpPr>
        <p:spPr>
          <a:xfrm rot="5400000" flipH="1" flipV="1">
            <a:off x="8130022" y="2391270"/>
            <a:ext cx="247466" cy="1212779"/>
          </a:xfrm>
          <a:prstGeom prst="bentConnector2">
            <a:avLst/>
          </a:prstGeom>
          <a:ln w="635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AAFD753B-E32A-4D4F-4862-CA2361DEB09E}"/>
              </a:ext>
            </a:extLst>
          </p:cNvPr>
          <p:cNvSpPr txBox="1"/>
          <p:nvPr/>
        </p:nvSpPr>
        <p:spPr>
          <a:xfrm>
            <a:off x="2327080" y="1449134"/>
            <a:ext cx="181832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データ共有基盤</a:t>
            </a:r>
            <a:endParaRPr kumimoji="1" lang="en-US" altLang="ja-JP" dirty="0"/>
          </a:p>
        </p:txBody>
      </p:sp>
      <p:pic>
        <p:nvPicPr>
          <p:cNvPr id="1053" name="Picture 5">
            <a:extLst>
              <a:ext uri="{FF2B5EF4-FFF2-40B4-BE49-F238E27FC236}">
                <a16:creationId xmlns:a16="http://schemas.microsoft.com/office/drawing/2014/main" id="{AF695F4C-4302-96C7-120D-8DC215631B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20" r="60486" b="35596"/>
          <a:stretch/>
        </p:blipFill>
        <p:spPr bwMode="auto">
          <a:xfrm>
            <a:off x="372825" y="771136"/>
            <a:ext cx="1954255" cy="83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四角形: 角を丸くする 1053">
            <a:extLst>
              <a:ext uri="{FF2B5EF4-FFF2-40B4-BE49-F238E27FC236}">
                <a16:creationId xmlns:a16="http://schemas.microsoft.com/office/drawing/2014/main" id="{70093055-6531-15EB-E490-E78FA291CCFC}"/>
              </a:ext>
            </a:extLst>
          </p:cNvPr>
          <p:cNvSpPr/>
          <p:nvPr/>
        </p:nvSpPr>
        <p:spPr>
          <a:xfrm>
            <a:off x="10868882" y="3721075"/>
            <a:ext cx="954279" cy="4080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1"/>
                </a:solidFill>
                <a:latin typeface="+mn-ea"/>
              </a:rPr>
              <a:t>VR</a:t>
            </a:r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91264DF-4CE5-AAE2-EE69-17483D5BC474}"/>
              </a:ext>
            </a:extLst>
          </p:cNvPr>
          <p:cNvGrpSpPr/>
          <p:nvPr/>
        </p:nvGrpSpPr>
        <p:grpSpPr>
          <a:xfrm>
            <a:off x="8860142" y="110519"/>
            <a:ext cx="2522310" cy="1068218"/>
            <a:chOff x="8549695" y="228005"/>
            <a:chExt cx="2522310" cy="1068218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CB622BC1-4CC3-3538-5621-168593F95F5B}"/>
                </a:ext>
              </a:extLst>
            </p:cNvPr>
            <p:cNvSpPr/>
            <p:nvPr/>
          </p:nvSpPr>
          <p:spPr>
            <a:xfrm>
              <a:off x="8549695" y="262318"/>
              <a:ext cx="2522310" cy="1033905"/>
            </a:xfrm>
            <a:prstGeom prst="roundRect">
              <a:avLst>
                <a:gd name="adj" fmla="val 1985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2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2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ja-JP" altLang="en-US" sz="2000" dirty="0">
                <a:solidFill>
                  <a:srgbClr val="FF0000"/>
                </a:solidFill>
                <a:latin typeface="+mn-ea"/>
              </a:endParaRPr>
            </a:p>
          </p:txBody>
        </p: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6DD3187-6C51-2A95-EE24-EC8A8A7DD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43389" b="19791"/>
            <a:stretch>
              <a:fillRect/>
            </a:stretch>
          </p:blipFill>
          <p:spPr>
            <a:xfrm>
              <a:off x="8737768" y="228005"/>
              <a:ext cx="1996124" cy="949016"/>
            </a:xfrm>
            <a:prstGeom prst="rect">
              <a:avLst/>
            </a:prstGeom>
          </p:spPr>
        </p:pic>
      </p:grp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29F97E0B-3337-0F76-204D-16F4EF5B73B3}"/>
              </a:ext>
            </a:extLst>
          </p:cNvPr>
          <p:cNvCxnSpPr>
            <a:cxnSpLocks/>
            <a:stCxn id="26" idx="0"/>
            <a:endCxn id="9" idx="2"/>
          </p:cNvCxnSpPr>
          <p:nvPr/>
        </p:nvCxnSpPr>
        <p:spPr>
          <a:xfrm rot="5400000" flipH="1" flipV="1">
            <a:off x="9636132" y="1663903"/>
            <a:ext cx="970331" cy="12700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B3E7E15E-F62A-63DD-3035-264568828D11}"/>
              </a:ext>
            </a:extLst>
          </p:cNvPr>
          <p:cNvGrpSpPr/>
          <p:nvPr/>
        </p:nvGrpSpPr>
        <p:grpSpPr>
          <a:xfrm>
            <a:off x="8428529" y="1772816"/>
            <a:ext cx="2953923" cy="1559515"/>
            <a:chOff x="8773833" y="1750641"/>
            <a:chExt cx="2820139" cy="1559515"/>
          </a:xfrm>
        </p:grpSpPr>
        <p:grpSp>
          <p:nvGrpSpPr>
            <p:cNvPr id="120" name="グループ化 119">
              <a:extLst>
                <a:ext uri="{FF2B5EF4-FFF2-40B4-BE49-F238E27FC236}">
                  <a16:creationId xmlns:a16="http://schemas.microsoft.com/office/drawing/2014/main" id="{3DB9D75D-C406-49DD-DE12-84F2739A8782}"/>
                </a:ext>
              </a:extLst>
            </p:cNvPr>
            <p:cNvGrpSpPr/>
            <p:nvPr/>
          </p:nvGrpSpPr>
          <p:grpSpPr>
            <a:xfrm>
              <a:off x="8773833" y="1936837"/>
              <a:ext cx="2820139" cy="1161239"/>
              <a:chOff x="8604453" y="1232496"/>
              <a:chExt cx="2820139" cy="1161239"/>
            </a:xfrm>
          </p:grpSpPr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D93FDB46-0C78-AD06-E48F-05B6E87F7FC0}"/>
                  </a:ext>
                </a:extLst>
              </p:cNvPr>
              <p:cNvGrpSpPr/>
              <p:nvPr/>
            </p:nvGrpSpPr>
            <p:grpSpPr>
              <a:xfrm>
                <a:off x="9016518" y="1422552"/>
                <a:ext cx="2408074" cy="971183"/>
                <a:chOff x="2423593" y="3429000"/>
                <a:chExt cx="2232248" cy="971183"/>
              </a:xfrm>
              <a:solidFill>
                <a:schemeClr val="bg1"/>
              </a:solidFill>
            </p:grpSpPr>
            <p:sp>
              <p:nvSpPr>
                <p:cNvPr id="26" name="四角形: 角を丸くする 25">
                  <a:extLst>
                    <a:ext uri="{FF2B5EF4-FFF2-40B4-BE49-F238E27FC236}">
                      <a16:creationId xmlns:a16="http://schemas.microsoft.com/office/drawing/2014/main" id="{68F45136-0141-770C-B875-818596A4CD23}"/>
                    </a:ext>
                  </a:extLst>
                </p:cNvPr>
                <p:cNvSpPr/>
                <p:nvPr/>
              </p:nvSpPr>
              <p:spPr>
                <a:xfrm>
                  <a:off x="2423593" y="3429000"/>
                  <a:ext cx="2232248" cy="971183"/>
                </a:xfrm>
                <a:prstGeom prst="roundRect">
                  <a:avLst>
                    <a:gd name="adj" fmla="val 19858"/>
                  </a:avLst>
                </a:prstGeom>
                <a:grp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ja-JP" altLang="en-US" sz="20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4829572E-EDC7-6C34-B353-134C75F73704}"/>
                    </a:ext>
                  </a:extLst>
                </p:cNvPr>
                <p:cNvSpPr txBox="1"/>
                <p:nvPr/>
              </p:nvSpPr>
              <p:spPr>
                <a:xfrm>
                  <a:off x="2439682" y="3700820"/>
                  <a:ext cx="1483699" cy="553830"/>
                </a:xfrm>
                <a:prstGeom prst="rect">
                  <a:avLst/>
                </a:prstGeom>
                <a:grpFill/>
              </p:spPr>
              <p:txBody>
                <a:bodyPr wrap="square">
                  <a:noAutofit/>
                </a:bodyPr>
                <a:lstStyle/>
                <a:p>
                  <a:pPr algn="ctr"/>
                  <a:r>
                    <a:rPr lang="ja-JP" altLang="en-US" sz="2400" dirty="0">
                      <a:hlinkClick r:id="rId14"/>
                    </a:rPr>
                    <a:t>BIM/CIM</a:t>
                  </a:r>
                  <a:endParaRPr lang="ja-JP" altLang="en-US" sz="2400" dirty="0"/>
                </a:p>
              </p:txBody>
            </p:sp>
          </p:grpSp>
          <p:sp>
            <p:nvSpPr>
              <p:cNvPr id="119" name="四角形: 角を丸くする 118">
                <a:extLst>
                  <a:ext uri="{FF2B5EF4-FFF2-40B4-BE49-F238E27FC236}">
                    <a16:creationId xmlns:a16="http://schemas.microsoft.com/office/drawing/2014/main" id="{39741BD7-3D92-A09A-F25B-6BA5787039C0}"/>
                  </a:ext>
                </a:extLst>
              </p:cNvPr>
              <p:cNvSpPr/>
              <p:nvPr/>
            </p:nvSpPr>
            <p:spPr>
              <a:xfrm>
                <a:off x="8604453" y="1232496"/>
                <a:ext cx="1116166" cy="40805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en-US" altLang="ja-JP" sz="1200" dirty="0">
                    <a:solidFill>
                      <a:schemeClr val="tx1"/>
                    </a:solidFill>
                    <a:latin typeface="+mn-ea"/>
                  </a:rPr>
                  <a:t>IFC</a:t>
                </a:r>
                <a:endParaRPr kumimoji="1" lang="ja-JP" altLang="en-US" sz="12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pic>
          <p:nvPicPr>
            <p:cNvPr id="1088" name="図 1087">
              <a:extLst>
                <a:ext uri="{FF2B5EF4-FFF2-40B4-BE49-F238E27FC236}">
                  <a16:creationId xmlns:a16="http://schemas.microsoft.com/office/drawing/2014/main" id="{BF17B283-E06E-9F88-BF0E-11408CF22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904984" y="2217481"/>
              <a:ext cx="625835" cy="625835"/>
            </a:xfrm>
            <a:prstGeom prst="rect">
              <a:avLst/>
            </a:prstGeom>
          </p:spPr>
        </p:pic>
        <p:pic>
          <p:nvPicPr>
            <p:cNvPr id="1094" name="図 1093">
              <a:extLst>
                <a:ext uri="{FF2B5EF4-FFF2-40B4-BE49-F238E27FC236}">
                  <a16:creationId xmlns:a16="http://schemas.microsoft.com/office/drawing/2014/main" id="{D631097B-2915-3E4B-DFCA-B5594FF7B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41098" y="2770395"/>
              <a:ext cx="553600" cy="539761"/>
            </a:xfrm>
            <a:prstGeom prst="rect">
              <a:avLst/>
            </a:prstGeom>
          </p:spPr>
        </p:pic>
        <p:pic>
          <p:nvPicPr>
            <p:cNvPr id="1096" name="図 1095">
              <a:extLst>
                <a:ext uri="{FF2B5EF4-FFF2-40B4-BE49-F238E27FC236}">
                  <a16:creationId xmlns:a16="http://schemas.microsoft.com/office/drawing/2014/main" id="{10F73C42-0216-56D1-C002-70DCB053F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964230" y="1750641"/>
              <a:ext cx="507343" cy="565325"/>
            </a:xfrm>
            <a:prstGeom prst="rect">
              <a:avLst/>
            </a:prstGeom>
          </p:spPr>
        </p:pic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57945CD5-F06F-1E41-6690-F9E9EE1093E5}"/>
              </a:ext>
            </a:extLst>
          </p:cNvPr>
          <p:cNvGrpSpPr/>
          <p:nvPr/>
        </p:nvGrpSpPr>
        <p:grpSpPr>
          <a:xfrm>
            <a:off x="1083714" y="1894886"/>
            <a:ext cx="3022883" cy="1462106"/>
            <a:chOff x="5685257" y="2168640"/>
            <a:chExt cx="2848912" cy="1462106"/>
          </a:xfrm>
        </p:grpSpPr>
        <p:grpSp>
          <p:nvGrpSpPr>
            <p:cNvPr id="1033" name="グループ化 1032">
              <a:extLst>
                <a:ext uri="{FF2B5EF4-FFF2-40B4-BE49-F238E27FC236}">
                  <a16:creationId xmlns:a16="http://schemas.microsoft.com/office/drawing/2014/main" id="{1DC9B606-2CC2-1EAB-D272-C485F08E7E38}"/>
                </a:ext>
              </a:extLst>
            </p:cNvPr>
            <p:cNvGrpSpPr/>
            <p:nvPr/>
          </p:nvGrpSpPr>
          <p:grpSpPr>
            <a:xfrm>
              <a:off x="5685257" y="2168640"/>
              <a:ext cx="2848912" cy="1462106"/>
              <a:chOff x="4195665" y="1280212"/>
              <a:chExt cx="3504882" cy="1670060"/>
            </a:xfrm>
            <a:solidFill>
              <a:schemeClr val="bg1"/>
            </a:solidFill>
          </p:grpSpPr>
          <p:grpSp>
            <p:nvGrpSpPr>
              <p:cNvPr id="1034" name="グループ化 1033">
                <a:extLst>
                  <a:ext uri="{FF2B5EF4-FFF2-40B4-BE49-F238E27FC236}">
                    <a16:creationId xmlns:a16="http://schemas.microsoft.com/office/drawing/2014/main" id="{304B068C-BAF7-D03F-4B89-423F787EFD99}"/>
                  </a:ext>
                </a:extLst>
              </p:cNvPr>
              <p:cNvGrpSpPr/>
              <p:nvPr/>
            </p:nvGrpSpPr>
            <p:grpSpPr>
              <a:xfrm>
                <a:off x="4195665" y="1280212"/>
                <a:ext cx="3504881" cy="1670060"/>
                <a:chOff x="990956" y="1161673"/>
                <a:chExt cx="3142948" cy="1670060"/>
              </a:xfrm>
              <a:grpFill/>
            </p:grpSpPr>
            <p:sp>
              <p:nvSpPr>
                <p:cNvPr id="1037" name="四角形: 角を丸くする 1036">
                  <a:extLst>
                    <a:ext uri="{FF2B5EF4-FFF2-40B4-BE49-F238E27FC236}">
                      <a16:creationId xmlns:a16="http://schemas.microsoft.com/office/drawing/2014/main" id="{B2F205E4-F4B0-1833-7679-C6CC97E8F23B}"/>
                    </a:ext>
                  </a:extLst>
                </p:cNvPr>
                <p:cNvSpPr/>
                <p:nvPr/>
              </p:nvSpPr>
              <p:spPr>
                <a:xfrm>
                  <a:off x="990956" y="1161673"/>
                  <a:ext cx="3142948" cy="1670060"/>
                </a:xfrm>
                <a:prstGeom prst="roundRect">
                  <a:avLst>
                    <a:gd name="adj" fmla="val 19858"/>
                  </a:avLst>
                </a:prstGeom>
                <a:grp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ja-JP" altLang="en-US" sz="20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038" name="テキスト ボックス 1037">
                  <a:extLst>
                    <a:ext uri="{FF2B5EF4-FFF2-40B4-BE49-F238E27FC236}">
                      <a16:creationId xmlns:a16="http://schemas.microsoft.com/office/drawing/2014/main" id="{42D64695-ED94-C6A0-8201-19BE4554C1BE}"/>
                    </a:ext>
                  </a:extLst>
                </p:cNvPr>
                <p:cNvSpPr txBox="1"/>
                <p:nvPr/>
              </p:nvSpPr>
              <p:spPr>
                <a:xfrm>
                  <a:off x="1537151" y="1218604"/>
                  <a:ext cx="1728192" cy="369332"/>
                </a:xfrm>
                <a:prstGeom prst="rect">
                  <a:avLst/>
                </a:prstGeom>
                <a:grp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kumimoji="1" lang="ja-JP" altLang="en-US" dirty="0"/>
                    <a:t>ＣＡＤ</a:t>
                  </a:r>
                </a:p>
              </p:txBody>
            </p:sp>
          </p:grpSp>
          <p:cxnSp>
            <p:nvCxnSpPr>
              <p:cNvPr id="1035" name="直線コネクタ 1034">
                <a:extLst>
                  <a:ext uri="{FF2B5EF4-FFF2-40B4-BE49-F238E27FC236}">
                    <a16:creationId xmlns:a16="http://schemas.microsoft.com/office/drawing/2014/main" id="{0AA4B572-11F3-CFBB-00B9-6AB1E4441D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95665" y="1777318"/>
                <a:ext cx="3504882" cy="13799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DA653746-F2C9-28D5-8018-1A1C76DE5D38}"/>
                </a:ext>
              </a:extLst>
            </p:cNvPr>
            <p:cNvGrpSpPr/>
            <p:nvPr/>
          </p:nvGrpSpPr>
          <p:grpSpPr>
            <a:xfrm>
              <a:off x="5822890" y="2650649"/>
              <a:ext cx="2579861" cy="923330"/>
              <a:chOff x="1487488" y="4741697"/>
              <a:chExt cx="2579861" cy="923330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7F8F3C5-11BE-2D80-4EE6-8A5B2F23D61F}"/>
                  </a:ext>
                </a:extLst>
              </p:cNvPr>
              <p:cNvSpPr txBox="1"/>
              <p:nvPr/>
            </p:nvSpPr>
            <p:spPr>
              <a:xfrm>
                <a:off x="2168748" y="4741697"/>
                <a:ext cx="189860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en-US" altLang="ja-JP" dirty="0"/>
                  <a:t>MAP3D</a:t>
                </a:r>
                <a:r>
                  <a:rPr kumimoji="1" lang="ja-JP" altLang="en-US" dirty="0"/>
                  <a:t>・</a:t>
                </a:r>
                <a:r>
                  <a:rPr kumimoji="1" lang="en-US" altLang="ja-JP" dirty="0"/>
                  <a:t>CIVIL3D</a:t>
                </a:r>
              </a:p>
              <a:p>
                <a:r>
                  <a:rPr kumimoji="1" lang="ja-JP" altLang="en-US" dirty="0"/>
                  <a:t>・</a:t>
                </a:r>
                <a:r>
                  <a:rPr kumimoji="1" lang="en-US" altLang="ja-JP" dirty="0"/>
                  <a:t>EPSG</a:t>
                </a:r>
                <a:r>
                  <a:rPr kumimoji="1" lang="ja-JP" altLang="en-US" dirty="0"/>
                  <a:t>ｺｰﾄﾞ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</a:t>
                </a:r>
                <a:r>
                  <a:rPr kumimoji="1" lang="en-US" altLang="ja-JP" dirty="0"/>
                  <a:t>DWG2013</a:t>
                </a:r>
                <a:r>
                  <a:rPr kumimoji="1" lang="ja-JP" altLang="en-US" dirty="0"/>
                  <a:t>出力</a:t>
                </a:r>
              </a:p>
            </p:txBody>
          </p:sp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E2463149-3E7B-E2AE-B7E4-C2D12C327E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87488" y="4897788"/>
                <a:ext cx="660996" cy="6295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3465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E8C3-153D-4A16-5388-C14F1D50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雲 1">
            <a:extLst>
              <a:ext uri="{FF2B5EF4-FFF2-40B4-BE49-F238E27FC236}">
                <a16:creationId xmlns:a16="http://schemas.microsoft.com/office/drawing/2014/main" id="{76306DDB-56BC-656D-D127-3BCBB5E63DC7}"/>
              </a:ext>
            </a:extLst>
          </p:cNvPr>
          <p:cNvSpPr/>
          <p:nvPr/>
        </p:nvSpPr>
        <p:spPr>
          <a:xfrm>
            <a:off x="3759732" y="362739"/>
            <a:ext cx="8152342" cy="6470070"/>
          </a:xfrm>
          <a:prstGeom prst="cloud">
            <a:avLst/>
          </a:prstGeom>
          <a:ln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dk1"/>
              </a:solidFill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2E8EBEA9-1980-F56E-49F7-EDF27A476A75}"/>
              </a:ext>
            </a:extLst>
          </p:cNvPr>
          <p:cNvSpPr/>
          <p:nvPr/>
        </p:nvSpPr>
        <p:spPr>
          <a:xfrm>
            <a:off x="1200660" y="5968713"/>
            <a:ext cx="10558866" cy="792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状況把握レベル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7716F0F-6972-D2B1-6F4E-8D4C718B94E7}"/>
              </a:ext>
            </a:extLst>
          </p:cNvPr>
          <p:cNvSpPr txBox="1"/>
          <p:nvPr/>
        </p:nvSpPr>
        <p:spPr>
          <a:xfrm>
            <a:off x="9593387" y="6191212"/>
            <a:ext cx="19762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詳細</a:t>
            </a:r>
            <a:endParaRPr kumimoji="1" lang="en-US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4A95A99-8F7D-FBA7-83EC-F2850E16A69D}"/>
              </a:ext>
            </a:extLst>
          </p:cNvPr>
          <p:cNvSpPr txBox="1"/>
          <p:nvPr/>
        </p:nvSpPr>
        <p:spPr>
          <a:xfrm>
            <a:off x="1070298" y="6180091"/>
            <a:ext cx="19762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概略</a:t>
            </a:r>
            <a:endParaRPr kumimoji="1" lang="en-US" altLang="ja-JP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2A39D86A-479C-8342-A959-2532C706DD05}"/>
              </a:ext>
            </a:extLst>
          </p:cNvPr>
          <p:cNvSpPr/>
          <p:nvPr/>
        </p:nvSpPr>
        <p:spPr>
          <a:xfrm rot="16200000">
            <a:off x="-1781938" y="3124397"/>
            <a:ext cx="4896544" cy="792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管理範囲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BB9B6D5-A4B5-FDC4-31CB-F478F27E3EEA}"/>
              </a:ext>
            </a:extLst>
          </p:cNvPr>
          <p:cNvSpPr txBox="1"/>
          <p:nvPr/>
        </p:nvSpPr>
        <p:spPr>
          <a:xfrm rot="16200000">
            <a:off x="54814" y="5149398"/>
            <a:ext cx="129936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工事単位</a:t>
            </a:r>
            <a:endParaRPr kumimoji="1" lang="en-US" altLang="ja-JP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4EC5A13-E40E-451C-0E36-84E6658BF3F6}"/>
              </a:ext>
            </a:extLst>
          </p:cNvPr>
          <p:cNvSpPr txBox="1"/>
          <p:nvPr/>
        </p:nvSpPr>
        <p:spPr>
          <a:xfrm rot="16200000">
            <a:off x="16650" y="1681203"/>
            <a:ext cx="129936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事業全体</a:t>
            </a:r>
            <a:endParaRPr kumimoji="1"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0F92AFE-4E14-4031-8A80-6C2ABE0E9B08}"/>
              </a:ext>
            </a:extLst>
          </p:cNvPr>
          <p:cNvSpPr txBox="1"/>
          <p:nvPr/>
        </p:nvSpPr>
        <p:spPr>
          <a:xfrm>
            <a:off x="279926" y="127282"/>
            <a:ext cx="5379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事業管理利用シーン</a:t>
            </a:r>
            <a:r>
              <a:rPr lang="en-US" altLang="ja-JP" sz="3200" b="1" i="0" u="sng" strike="noStrik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  <a:endParaRPr lang="ja-JP" altLang="en-US" sz="3200" b="1" i="0" u="sng" dirty="0">
              <a:solidFill>
                <a:srgbClr val="00B0F0"/>
              </a:solidFill>
              <a:effectLst/>
              <a:highlight>
                <a:srgbClr val="FFFFFF"/>
              </a:highlight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AF19F00-FD39-3FCA-05E5-E169CFE709E1}"/>
              </a:ext>
            </a:extLst>
          </p:cNvPr>
          <p:cNvGrpSpPr/>
          <p:nvPr/>
        </p:nvGrpSpPr>
        <p:grpSpPr>
          <a:xfrm>
            <a:off x="4367809" y="3938693"/>
            <a:ext cx="7319710" cy="1912648"/>
            <a:chOff x="8354926" y="2168640"/>
            <a:chExt cx="6898452" cy="1912648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AA5C9983-9B3F-4461-0948-D871D46F6A68}"/>
                </a:ext>
              </a:extLst>
            </p:cNvPr>
            <p:cNvGrpSpPr/>
            <p:nvPr/>
          </p:nvGrpSpPr>
          <p:grpSpPr>
            <a:xfrm>
              <a:off x="8354926" y="2168640"/>
              <a:ext cx="6898452" cy="1912648"/>
              <a:chOff x="7480030" y="1280212"/>
              <a:chExt cx="8486838" cy="2184682"/>
            </a:xfrm>
            <a:solidFill>
              <a:schemeClr val="bg1"/>
            </a:solidFill>
          </p:grpSpPr>
          <p:grpSp>
            <p:nvGrpSpPr>
              <p:cNvPr id="38" name="グループ化 37">
                <a:extLst>
                  <a:ext uri="{FF2B5EF4-FFF2-40B4-BE49-F238E27FC236}">
                    <a16:creationId xmlns:a16="http://schemas.microsoft.com/office/drawing/2014/main" id="{C21F6208-2E8A-DCD8-8BE6-B8B52E8B7FF4}"/>
                  </a:ext>
                </a:extLst>
              </p:cNvPr>
              <p:cNvGrpSpPr/>
              <p:nvPr/>
            </p:nvGrpSpPr>
            <p:grpSpPr>
              <a:xfrm>
                <a:off x="7480030" y="1280212"/>
                <a:ext cx="8486838" cy="2184682"/>
                <a:chOff x="3936160" y="1161673"/>
                <a:chExt cx="7610441" cy="2184682"/>
              </a:xfrm>
              <a:grpFill/>
            </p:grpSpPr>
            <p:sp>
              <p:nvSpPr>
                <p:cNvPr id="40" name="四角形: 角を丸くする 39">
                  <a:extLst>
                    <a:ext uri="{FF2B5EF4-FFF2-40B4-BE49-F238E27FC236}">
                      <a16:creationId xmlns:a16="http://schemas.microsoft.com/office/drawing/2014/main" id="{670B22CE-514B-DCE5-B9E7-330900056D48}"/>
                    </a:ext>
                  </a:extLst>
                </p:cNvPr>
                <p:cNvSpPr/>
                <p:nvPr/>
              </p:nvSpPr>
              <p:spPr>
                <a:xfrm>
                  <a:off x="3936160" y="1161673"/>
                  <a:ext cx="7610441" cy="2184682"/>
                </a:xfrm>
                <a:prstGeom prst="roundRect">
                  <a:avLst>
                    <a:gd name="adj" fmla="val 19858"/>
                  </a:avLst>
                </a:prstGeom>
                <a:grp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ja-JP" altLang="en-US" sz="20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7AD0DC5A-00D4-AEAF-2E47-096B8F699EF6}"/>
                    </a:ext>
                  </a:extLst>
                </p:cNvPr>
                <p:cNvSpPr txBox="1"/>
                <p:nvPr/>
              </p:nvSpPr>
              <p:spPr>
                <a:xfrm>
                  <a:off x="4283570" y="1214783"/>
                  <a:ext cx="1728192" cy="421862"/>
                </a:xfrm>
                <a:prstGeom prst="rect">
                  <a:avLst/>
                </a:prstGeom>
                <a:grp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kumimoji="1" lang="en-US" altLang="ja-JP" dirty="0"/>
                    <a:t>【</a:t>
                  </a:r>
                  <a:r>
                    <a:rPr kumimoji="1" lang="ja-JP" altLang="en-US" dirty="0"/>
                    <a:t>設計</a:t>
                  </a:r>
                  <a:r>
                    <a:rPr kumimoji="1" lang="en-US" altLang="ja-JP" dirty="0"/>
                    <a:t>】</a:t>
                  </a:r>
                  <a:endParaRPr kumimoji="1" lang="ja-JP" altLang="en-US" dirty="0"/>
                </a:p>
              </p:txBody>
            </p:sp>
          </p:grp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70F1AD76-B68E-F2C8-8B37-664CC30AB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0030" y="1732740"/>
                <a:ext cx="8486838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</p:grpSp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C0903AD0-B2CF-3F0E-EFD1-2F613EAA0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7828" y="2996002"/>
              <a:ext cx="660996" cy="629519"/>
            </a:xfrm>
            <a:prstGeom prst="rect">
              <a:avLst/>
            </a:prstGeom>
          </p:spPr>
        </p:pic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65A03C95-F8A0-582C-3F24-8BFCE388F847}"/>
              </a:ext>
            </a:extLst>
          </p:cNvPr>
          <p:cNvGrpSpPr/>
          <p:nvPr/>
        </p:nvGrpSpPr>
        <p:grpSpPr>
          <a:xfrm>
            <a:off x="8615723" y="4110245"/>
            <a:ext cx="2953924" cy="1559515"/>
            <a:chOff x="8773833" y="1750641"/>
            <a:chExt cx="2820140" cy="1559515"/>
          </a:xfrm>
        </p:grpSpPr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892755B0-E278-CE20-6C79-83A21592A23A}"/>
                </a:ext>
              </a:extLst>
            </p:cNvPr>
            <p:cNvGrpSpPr/>
            <p:nvPr/>
          </p:nvGrpSpPr>
          <p:grpSpPr>
            <a:xfrm>
              <a:off x="8773833" y="1936837"/>
              <a:ext cx="2820140" cy="1161239"/>
              <a:chOff x="8604453" y="1232496"/>
              <a:chExt cx="2820140" cy="1161239"/>
            </a:xfrm>
          </p:grpSpPr>
          <p:grpSp>
            <p:nvGrpSpPr>
              <p:cNvPr id="52" name="グループ化 51">
                <a:extLst>
                  <a:ext uri="{FF2B5EF4-FFF2-40B4-BE49-F238E27FC236}">
                    <a16:creationId xmlns:a16="http://schemas.microsoft.com/office/drawing/2014/main" id="{99EB693B-7265-EE40-9679-32C700D8F3CF}"/>
                  </a:ext>
                </a:extLst>
              </p:cNvPr>
              <p:cNvGrpSpPr/>
              <p:nvPr/>
            </p:nvGrpSpPr>
            <p:grpSpPr>
              <a:xfrm>
                <a:off x="9016519" y="1422552"/>
                <a:ext cx="2408074" cy="971183"/>
                <a:chOff x="2423594" y="3429000"/>
                <a:chExt cx="2232248" cy="971183"/>
              </a:xfrm>
              <a:solidFill>
                <a:schemeClr val="bg1"/>
              </a:solidFill>
            </p:grpSpPr>
            <p:sp>
              <p:nvSpPr>
                <p:cNvPr id="54" name="四角形: 角を丸くする 53">
                  <a:extLst>
                    <a:ext uri="{FF2B5EF4-FFF2-40B4-BE49-F238E27FC236}">
                      <a16:creationId xmlns:a16="http://schemas.microsoft.com/office/drawing/2014/main" id="{CFD7761C-B11A-B638-416A-659945E45974}"/>
                    </a:ext>
                  </a:extLst>
                </p:cNvPr>
                <p:cNvSpPr/>
                <p:nvPr/>
              </p:nvSpPr>
              <p:spPr>
                <a:xfrm>
                  <a:off x="2423594" y="3429000"/>
                  <a:ext cx="2232248" cy="971183"/>
                </a:xfrm>
                <a:prstGeom prst="roundRect">
                  <a:avLst>
                    <a:gd name="adj" fmla="val 19858"/>
                  </a:avLst>
                </a:prstGeom>
                <a:grp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1600" dirty="0">
                    <a:solidFill>
                      <a:schemeClr val="tx1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en-US" altLang="ja-JP" sz="2000" dirty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>
                    <a:lnSpc>
                      <a:spcPct val="130000"/>
                    </a:lnSpc>
                    <a:spcAft>
                      <a:spcPts val="600"/>
                    </a:spcAft>
                  </a:pPr>
                  <a:endParaRPr kumimoji="1" lang="ja-JP" altLang="en-US" sz="20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D52C35AF-491C-FCB5-227B-08AE4D4E7C8F}"/>
                    </a:ext>
                  </a:extLst>
                </p:cNvPr>
                <p:cNvSpPr txBox="1"/>
                <p:nvPr/>
              </p:nvSpPr>
              <p:spPr>
                <a:xfrm>
                  <a:off x="2439682" y="3700820"/>
                  <a:ext cx="1483699" cy="553830"/>
                </a:xfrm>
                <a:prstGeom prst="rect">
                  <a:avLst/>
                </a:prstGeom>
                <a:grpFill/>
              </p:spPr>
              <p:txBody>
                <a:bodyPr wrap="square">
                  <a:noAutofit/>
                </a:bodyPr>
                <a:lstStyle/>
                <a:p>
                  <a:pPr algn="ctr"/>
                  <a:r>
                    <a:rPr lang="ja-JP" altLang="en-US" sz="2400" dirty="0">
                      <a:hlinkClick r:id="rId4"/>
                    </a:rPr>
                    <a:t>BIM/CIM</a:t>
                  </a:r>
                  <a:endParaRPr lang="ja-JP" altLang="en-US" sz="2400" dirty="0"/>
                </a:p>
              </p:txBody>
            </p:sp>
          </p:grp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2406C6B3-DE07-6245-5B74-CE726AAFBA99}"/>
                  </a:ext>
                </a:extLst>
              </p:cNvPr>
              <p:cNvSpPr/>
              <p:nvPr/>
            </p:nvSpPr>
            <p:spPr>
              <a:xfrm>
                <a:off x="8604453" y="1232496"/>
                <a:ext cx="1116166" cy="40805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en-US" altLang="ja-JP" sz="1200" dirty="0">
                    <a:solidFill>
                      <a:schemeClr val="tx1"/>
                    </a:solidFill>
                    <a:latin typeface="+mn-ea"/>
                  </a:rPr>
                  <a:t>IFC</a:t>
                </a:r>
                <a:endParaRPr kumimoji="1" lang="ja-JP" altLang="en-US" sz="12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15D4B446-A9E5-E625-61D2-A8F079FB1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04984" y="2217481"/>
              <a:ext cx="625835" cy="625835"/>
            </a:xfrm>
            <a:prstGeom prst="rect">
              <a:avLst/>
            </a:prstGeom>
          </p:spPr>
        </p:pic>
        <p:pic>
          <p:nvPicPr>
            <p:cNvPr id="50" name="図 49">
              <a:extLst>
                <a:ext uri="{FF2B5EF4-FFF2-40B4-BE49-F238E27FC236}">
                  <a16:creationId xmlns:a16="http://schemas.microsoft.com/office/drawing/2014/main" id="{18ECC4A8-4271-8D63-F78D-BAF8580C6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41098" y="2770395"/>
              <a:ext cx="553600" cy="539761"/>
            </a:xfrm>
            <a:prstGeom prst="rect">
              <a:avLst/>
            </a:prstGeom>
          </p:spPr>
        </p:pic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F58296B9-EB12-67BC-5D90-4BC50EF1B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64230" y="1750641"/>
              <a:ext cx="507343" cy="565325"/>
            </a:xfrm>
            <a:prstGeom prst="rect">
              <a:avLst/>
            </a:prstGeom>
          </p:spPr>
        </p:pic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F5180CE-D75D-F3DE-3AF2-5791E19122B1}"/>
              </a:ext>
            </a:extLst>
          </p:cNvPr>
          <p:cNvGrpSpPr/>
          <p:nvPr/>
        </p:nvGrpSpPr>
        <p:grpSpPr>
          <a:xfrm>
            <a:off x="1317685" y="1917600"/>
            <a:ext cx="2549314" cy="3416464"/>
            <a:chOff x="9127236" y="3718951"/>
            <a:chExt cx="2549314" cy="3416464"/>
          </a:xfrm>
        </p:grpSpPr>
        <p:pic>
          <p:nvPicPr>
            <p:cNvPr id="65" name="Picture 4" descr="見出し画像">
              <a:extLst>
                <a:ext uri="{FF2B5EF4-FFF2-40B4-BE49-F238E27FC236}">
                  <a16:creationId xmlns:a16="http://schemas.microsoft.com/office/drawing/2014/main" id="{EAD5582C-2C10-B6DA-208D-44713FB8D1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24" t="22307" r="9289" b="22840"/>
            <a:stretch>
              <a:fillRect/>
            </a:stretch>
          </p:blipFill>
          <p:spPr bwMode="auto">
            <a:xfrm>
              <a:off x="9127236" y="3718951"/>
              <a:ext cx="2525397" cy="8825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5BBE88B6-EF95-3933-28AE-3E8BAD3E9BAA}"/>
                </a:ext>
              </a:extLst>
            </p:cNvPr>
            <p:cNvSpPr txBox="1"/>
            <p:nvPr/>
          </p:nvSpPr>
          <p:spPr>
            <a:xfrm>
              <a:off x="9151153" y="5935086"/>
              <a:ext cx="2525397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dirty="0"/>
                <a:t>3DTILES</a:t>
              </a:r>
              <a:r>
                <a:rPr kumimoji="1" lang="ja-JP" altLang="en-US" dirty="0"/>
                <a:t>による</a:t>
              </a:r>
              <a:endParaRPr kumimoji="1" lang="en-US" altLang="ja-JP" dirty="0"/>
            </a:p>
            <a:p>
              <a:pPr algn="ctr"/>
              <a:r>
                <a:rPr kumimoji="1" lang="ja-JP" altLang="en-US" dirty="0"/>
                <a:t>可視化に特化</a:t>
              </a:r>
              <a:endParaRPr kumimoji="1" lang="en-US" altLang="ja-JP" dirty="0"/>
            </a:p>
            <a:p>
              <a:pPr algn="ctr"/>
              <a:endParaRPr kumimoji="1" lang="en-US" altLang="ja-JP" dirty="0"/>
            </a:p>
            <a:p>
              <a:pPr algn="ctr"/>
              <a:r>
                <a:rPr kumimoji="1" lang="en-US" altLang="ja-JP" dirty="0"/>
                <a:t>【</a:t>
              </a:r>
              <a:r>
                <a:rPr kumimoji="1" lang="ja-JP" altLang="en-US" dirty="0"/>
                <a:t>一般公開も可能</a:t>
              </a:r>
              <a:r>
                <a:rPr kumimoji="1" lang="en-US" altLang="ja-JP" dirty="0"/>
                <a:t>】</a:t>
              </a:r>
            </a:p>
          </p:txBody>
        </p:sp>
        <p:pic>
          <p:nvPicPr>
            <p:cNvPr id="69" name="図 68">
              <a:extLst>
                <a:ext uri="{FF2B5EF4-FFF2-40B4-BE49-F238E27FC236}">
                  <a16:creationId xmlns:a16="http://schemas.microsoft.com/office/drawing/2014/main" id="{0C6F5963-DDF9-4B5A-781B-A4874A881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98355" y="4601547"/>
              <a:ext cx="954279" cy="1114917"/>
            </a:xfrm>
            <a:prstGeom prst="rect">
              <a:avLst/>
            </a:prstGeom>
          </p:spPr>
        </p:pic>
        <p:pic>
          <p:nvPicPr>
            <p:cNvPr id="70" name="図 69">
              <a:extLst>
                <a:ext uri="{FF2B5EF4-FFF2-40B4-BE49-F238E27FC236}">
                  <a16:creationId xmlns:a16="http://schemas.microsoft.com/office/drawing/2014/main" id="{0B420811-BA32-94F7-B047-BC8C19D9D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27237" y="4603103"/>
              <a:ext cx="950931" cy="1140189"/>
            </a:xfrm>
            <a:prstGeom prst="rect">
              <a:avLst/>
            </a:prstGeom>
            <a:ln w="44450">
              <a:solidFill>
                <a:srgbClr val="00B0F0"/>
              </a:solidFill>
            </a:ln>
          </p:spPr>
        </p:pic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F9D9978E-7468-FE89-2AD2-63A2F08EE1B2}"/>
              </a:ext>
            </a:extLst>
          </p:cNvPr>
          <p:cNvGrpSpPr/>
          <p:nvPr/>
        </p:nvGrpSpPr>
        <p:grpSpPr>
          <a:xfrm>
            <a:off x="3939016" y="1327109"/>
            <a:ext cx="3808678" cy="1589580"/>
            <a:chOff x="4077798" y="1184900"/>
            <a:chExt cx="3808678" cy="1589580"/>
          </a:xfrm>
        </p:grpSpPr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3C0EC2C4-2C9B-3E28-6993-787B671C0262}"/>
                </a:ext>
              </a:extLst>
            </p:cNvPr>
            <p:cNvCxnSpPr>
              <a:cxnSpLocks/>
              <a:stCxn id="82" idx="1"/>
              <a:endCxn id="82" idx="3"/>
            </p:cNvCxnSpPr>
            <p:nvPr/>
          </p:nvCxnSpPr>
          <p:spPr>
            <a:xfrm>
              <a:off x="4249281" y="2157520"/>
              <a:ext cx="3543741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823CB5C9-A80B-D708-5ADE-7C1EF383C325}"/>
                </a:ext>
              </a:extLst>
            </p:cNvPr>
            <p:cNvCxnSpPr>
              <a:cxnSpLocks/>
              <a:stCxn id="82" idx="2"/>
            </p:cNvCxnSpPr>
            <p:nvPr/>
          </p:nvCxnSpPr>
          <p:spPr>
            <a:xfrm flipV="1">
              <a:off x="6021152" y="2157520"/>
              <a:ext cx="296262" cy="616960"/>
            </a:xfrm>
            <a:prstGeom prst="line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59E57040-D1F6-2465-D4C7-82834CAABA46}"/>
                </a:ext>
              </a:extLst>
            </p:cNvPr>
            <p:cNvGrpSpPr/>
            <p:nvPr/>
          </p:nvGrpSpPr>
          <p:grpSpPr>
            <a:xfrm>
              <a:off x="4077798" y="1540560"/>
              <a:ext cx="3808678" cy="1233920"/>
              <a:chOff x="3764277" y="2996952"/>
              <a:chExt cx="3808678" cy="1233920"/>
            </a:xfrm>
          </p:grpSpPr>
          <p:sp>
            <p:nvSpPr>
              <p:cNvPr id="82" name="四角形: 角を丸くする 81">
                <a:extLst>
                  <a:ext uri="{FF2B5EF4-FFF2-40B4-BE49-F238E27FC236}">
                    <a16:creationId xmlns:a16="http://schemas.microsoft.com/office/drawing/2014/main" id="{7104A574-4C62-8D4C-E1EB-F860569EB588}"/>
                  </a:ext>
                </a:extLst>
              </p:cNvPr>
              <p:cNvSpPr/>
              <p:nvPr/>
            </p:nvSpPr>
            <p:spPr>
              <a:xfrm>
                <a:off x="3935760" y="2996952"/>
                <a:ext cx="3543741" cy="1233920"/>
              </a:xfrm>
              <a:prstGeom prst="roundRect">
                <a:avLst>
                  <a:gd name="adj" fmla="val 24007"/>
                </a:avLst>
              </a:prstGeom>
              <a:solidFill>
                <a:schemeClr val="lt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ja-JP" altLang="en-US" sz="12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0B72F28C-4508-43E1-C654-8056AF9064AB}"/>
                  </a:ext>
                </a:extLst>
              </p:cNvPr>
              <p:cNvSpPr txBox="1"/>
              <p:nvPr/>
            </p:nvSpPr>
            <p:spPr>
              <a:xfrm>
                <a:off x="4506420" y="3179373"/>
                <a:ext cx="23765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属性情報：</a:t>
                </a:r>
                <a:r>
                  <a:rPr kumimoji="1" lang="en-US" altLang="ja-JP" dirty="0"/>
                  <a:t>CSV</a:t>
                </a:r>
                <a:r>
                  <a:rPr kumimoji="1" lang="ja-JP" altLang="en-US" dirty="0"/>
                  <a:t>連携</a:t>
                </a: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E088D9B0-E002-4D72-EE29-3565F0FD740A}"/>
                  </a:ext>
                </a:extLst>
              </p:cNvPr>
              <p:cNvSpPr txBox="1"/>
              <p:nvPr/>
            </p:nvSpPr>
            <p:spPr>
              <a:xfrm>
                <a:off x="3764277" y="3728512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施工計画</a:t>
                </a:r>
              </a:p>
            </p:txBody>
          </p:sp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5716F7CF-7733-1AA5-B85D-D6A9710546D6}"/>
                  </a:ext>
                </a:extLst>
              </p:cNvPr>
              <p:cNvSpPr txBox="1"/>
              <p:nvPr/>
            </p:nvSpPr>
            <p:spPr>
              <a:xfrm>
                <a:off x="5484723" y="3747481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/>
                  <a:t>積算（数量計算）</a:t>
                </a:r>
              </a:p>
            </p:txBody>
          </p:sp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25F1AC9F-3C41-C32F-39AC-D77B1148CB96}"/>
                </a:ext>
              </a:extLst>
            </p:cNvPr>
            <p:cNvGrpSpPr/>
            <p:nvPr/>
          </p:nvGrpSpPr>
          <p:grpSpPr>
            <a:xfrm>
              <a:off x="4769516" y="1184900"/>
              <a:ext cx="2565597" cy="476806"/>
              <a:chOff x="2293000" y="769479"/>
              <a:chExt cx="2930320" cy="476806"/>
            </a:xfrm>
          </p:grpSpPr>
          <p:sp>
            <p:nvSpPr>
              <p:cNvPr id="80" name="四角形: 角を丸くする 79">
                <a:extLst>
                  <a:ext uri="{FF2B5EF4-FFF2-40B4-BE49-F238E27FC236}">
                    <a16:creationId xmlns:a16="http://schemas.microsoft.com/office/drawing/2014/main" id="{4710A861-6FF3-5E4D-3D16-88E333152386}"/>
                  </a:ext>
                </a:extLst>
              </p:cNvPr>
              <p:cNvSpPr/>
              <p:nvPr/>
            </p:nvSpPr>
            <p:spPr>
              <a:xfrm>
                <a:off x="2293000" y="769479"/>
                <a:ext cx="2930320" cy="4768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446088" indent="-182563" algn="ctr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ja-JP" altLang="en-US" sz="1200" dirty="0">
                    <a:solidFill>
                      <a:schemeClr val="tx1"/>
                    </a:solidFill>
                    <a:latin typeface="+mn-ea"/>
                  </a:rPr>
                  <a:t>型式変換による連携</a:t>
                </a:r>
                <a:endParaRPr kumimoji="1" lang="en-US" altLang="ja-JP" sz="1200" dirty="0">
                  <a:solidFill>
                    <a:schemeClr val="tx1"/>
                  </a:solidFill>
                  <a:latin typeface="+mn-ea"/>
                </a:endParaRPr>
              </a:p>
              <a:p>
                <a:pPr marL="446088" indent="-182563" algn="ctr">
                  <a:lnSpc>
                    <a:spcPts val="500"/>
                  </a:lnSpc>
                  <a:spcAft>
                    <a:spcPts val="600"/>
                  </a:spcAft>
                </a:pPr>
                <a:r>
                  <a:rPr kumimoji="1" lang="ja-JP" altLang="en-US" sz="1200" dirty="0">
                    <a:solidFill>
                      <a:schemeClr val="tx1"/>
                    </a:solidFill>
                    <a:latin typeface="+mn-ea"/>
                  </a:rPr>
                  <a:t>様々な台帳と連携　</a:t>
                </a:r>
              </a:p>
            </p:txBody>
          </p:sp>
          <p:pic>
            <p:nvPicPr>
              <p:cNvPr id="81" name="図 80">
                <a:extLst>
                  <a:ext uri="{FF2B5EF4-FFF2-40B4-BE49-F238E27FC236}">
                    <a16:creationId xmlns:a16="http://schemas.microsoft.com/office/drawing/2014/main" id="{7BFF0E82-2CED-FF78-8473-6167B2E34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39861" y="850093"/>
                <a:ext cx="373266" cy="319038"/>
              </a:xfrm>
              <a:prstGeom prst="rect">
                <a:avLst/>
              </a:prstGeom>
            </p:spPr>
          </p:pic>
        </p:grp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1D96975-50E6-7BED-AB51-40C351981868}"/>
              </a:ext>
            </a:extLst>
          </p:cNvPr>
          <p:cNvGrpSpPr/>
          <p:nvPr/>
        </p:nvGrpSpPr>
        <p:grpSpPr>
          <a:xfrm>
            <a:off x="4782075" y="4546705"/>
            <a:ext cx="2522310" cy="1068218"/>
            <a:chOff x="8549695" y="228005"/>
            <a:chExt cx="2522310" cy="1068218"/>
          </a:xfrm>
        </p:grpSpPr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AD6F0182-348F-19CC-7860-2D2183A660ED}"/>
                </a:ext>
              </a:extLst>
            </p:cNvPr>
            <p:cNvSpPr/>
            <p:nvPr/>
          </p:nvSpPr>
          <p:spPr>
            <a:xfrm>
              <a:off x="8549695" y="262318"/>
              <a:ext cx="2522310" cy="1033905"/>
            </a:xfrm>
            <a:prstGeom prst="roundRect">
              <a:avLst>
                <a:gd name="adj" fmla="val 1985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16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2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en-US" altLang="ja-JP" sz="2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endParaRPr kumimoji="1" lang="ja-JP" altLang="en-US" sz="2000" dirty="0">
                <a:solidFill>
                  <a:srgbClr val="FF0000"/>
                </a:solidFill>
                <a:latin typeface="+mn-ea"/>
              </a:endParaRPr>
            </a:p>
          </p:txBody>
        </p:sp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987F72B5-0083-FABE-5994-3D5199B90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43389" b="19791"/>
            <a:stretch>
              <a:fillRect/>
            </a:stretch>
          </p:blipFill>
          <p:spPr>
            <a:xfrm>
              <a:off x="8737768" y="228005"/>
              <a:ext cx="1996124" cy="949016"/>
            </a:xfrm>
            <a:prstGeom prst="rect">
              <a:avLst/>
            </a:prstGeom>
          </p:spPr>
        </p:pic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54220BB8-C6AB-CC52-EF13-CB56548B413F}"/>
              </a:ext>
            </a:extLst>
          </p:cNvPr>
          <p:cNvGrpSpPr/>
          <p:nvPr/>
        </p:nvGrpSpPr>
        <p:grpSpPr>
          <a:xfrm>
            <a:off x="7843276" y="896078"/>
            <a:ext cx="4130392" cy="2768379"/>
            <a:chOff x="786470" y="3928256"/>
            <a:chExt cx="4130392" cy="2768379"/>
          </a:xfrm>
        </p:grpSpPr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F575B478-8A13-484C-1EDD-1249393E49FD}"/>
                </a:ext>
              </a:extLst>
            </p:cNvPr>
            <p:cNvGrpSpPr/>
            <p:nvPr/>
          </p:nvGrpSpPr>
          <p:grpSpPr>
            <a:xfrm>
              <a:off x="786470" y="3928256"/>
              <a:ext cx="3598087" cy="2768379"/>
              <a:chOff x="963285" y="3828973"/>
              <a:chExt cx="3598087" cy="2768379"/>
            </a:xfrm>
          </p:grpSpPr>
          <p:sp>
            <p:nvSpPr>
              <p:cNvPr id="93" name="四角形: 角を丸くする 92">
                <a:extLst>
                  <a:ext uri="{FF2B5EF4-FFF2-40B4-BE49-F238E27FC236}">
                    <a16:creationId xmlns:a16="http://schemas.microsoft.com/office/drawing/2014/main" id="{B66502A7-A5C9-951A-F966-5EEA283C81C1}"/>
                  </a:ext>
                </a:extLst>
              </p:cNvPr>
              <p:cNvSpPr/>
              <p:nvPr/>
            </p:nvSpPr>
            <p:spPr>
              <a:xfrm>
                <a:off x="1056739" y="4078655"/>
                <a:ext cx="3504633" cy="2518697"/>
              </a:xfrm>
              <a:prstGeom prst="roundRect">
                <a:avLst>
                  <a:gd name="adj" fmla="val 19858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16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2000" dirty="0">
                  <a:solidFill>
                    <a:srgbClr val="FF0000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en-US" altLang="ja-JP" sz="2000" dirty="0">
                  <a:solidFill>
                    <a:srgbClr val="FF0000"/>
                  </a:solidFill>
                  <a:latin typeface="+mn-ea"/>
                </a:endParaRPr>
              </a:p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endParaRPr kumimoji="1" lang="ja-JP" altLang="en-US" sz="20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pic>
            <p:nvPicPr>
              <p:cNvPr id="94" name="グラフィックス 93">
                <a:extLst>
                  <a:ext uri="{FF2B5EF4-FFF2-40B4-BE49-F238E27FC236}">
                    <a16:creationId xmlns:a16="http://schemas.microsoft.com/office/drawing/2014/main" id="{C9BE3601-BA92-4F73-F0DC-6F16170705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721687" y="4033171"/>
                <a:ext cx="2029381" cy="971184"/>
              </a:xfrm>
              <a:prstGeom prst="rect">
                <a:avLst/>
              </a:prstGeom>
            </p:spPr>
          </p:pic>
          <p:sp>
            <p:nvSpPr>
              <p:cNvPr id="95" name="四角形: 角を丸くする 94">
                <a:extLst>
                  <a:ext uri="{FF2B5EF4-FFF2-40B4-BE49-F238E27FC236}">
                    <a16:creationId xmlns:a16="http://schemas.microsoft.com/office/drawing/2014/main" id="{30D3C8A9-951B-9171-BFF0-A6621F69A22A}"/>
                  </a:ext>
                </a:extLst>
              </p:cNvPr>
              <p:cNvSpPr/>
              <p:nvPr/>
            </p:nvSpPr>
            <p:spPr>
              <a:xfrm>
                <a:off x="963285" y="3828973"/>
                <a:ext cx="1516804" cy="40805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  <a:spcAft>
                    <a:spcPts val="600"/>
                  </a:spcAft>
                </a:pPr>
                <a:r>
                  <a:rPr kumimoji="1" lang="ja-JP" altLang="en-US" sz="1200" dirty="0">
                    <a:solidFill>
                      <a:schemeClr val="tx1"/>
                    </a:solidFill>
                    <a:latin typeface="+mn-ea"/>
                  </a:rPr>
                  <a:t>誰でも利用可能</a:t>
                </a:r>
              </a:p>
            </p:txBody>
          </p:sp>
          <p:cxnSp>
            <p:nvCxnSpPr>
              <p:cNvPr id="96" name="直線コネクタ 95">
                <a:extLst>
                  <a:ext uri="{FF2B5EF4-FFF2-40B4-BE49-F238E27FC236}">
                    <a16:creationId xmlns:a16="http://schemas.microsoft.com/office/drawing/2014/main" id="{CBBA5C0C-34A8-2319-9E08-D52AD2933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739" y="4860679"/>
                <a:ext cx="3494366" cy="1358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81599420-BCAE-7308-45D7-9A472473AE75}"/>
                  </a:ext>
                </a:extLst>
              </p:cNvPr>
              <p:cNvSpPr txBox="1"/>
              <p:nvPr/>
            </p:nvSpPr>
            <p:spPr>
              <a:xfrm>
                <a:off x="1102197" y="4973416"/>
                <a:ext cx="344890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dirty="0"/>
                  <a:t>・複雑な情報を整理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・位置情報による見える化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・高品質な報告書作成効率化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・多彩なデータ変換機能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・他システムとの連携</a:t>
                </a:r>
              </a:p>
            </p:txBody>
          </p:sp>
        </p:grpSp>
        <p:pic>
          <p:nvPicPr>
            <p:cNvPr id="91" name="図 90">
              <a:extLst>
                <a:ext uri="{FF2B5EF4-FFF2-40B4-BE49-F238E27FC236}">
                  <a16:creationId xmlns:a16="http://schemas.microsoft.com/office/drawing/2014/main" id="{150273E9-5BB9-14C2-373C-8C144558A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95950" y="6204655"/>
              <a:ext cx="1120912" cy="381849"/>
            </a:xfrm>
            <a:prstGeom prst="rect">
              <a:avLst/>
            </a:prstGeom>
          </p:spPr>
        </p:pic>
        <p:pic>
          <p:nvPicPr>
            <p:cNvPr id="92" name="Picture 2">
              <a:extLst>
                <a:ext uri="{FF2B5EF4-FFF2-40B4-BE49-F238E27FC236}">
                  <a16:creationId xmlns:a16="http://schemas.microsoft.com/office/drawing/2014/main" id="{F6EA2344-DAC9-A7FE-9F7C-6C90AA3B47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3077" y="4061864"/>
              <a:ext cx="735288" cy="735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5ACB1DA9-A7FB-A481-45D4-CCA2C3D1F06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9698" y="155059"/>
            <a:ext cx="1070055" cy="579885"/>
          </a:xfrm>
          <a:prstGeom prst="rect">
            <a:avLst/>
          </a:prstGeom>
          <a:ln w="41275">
            <a:solidFill>
              <a:srgbClr val="0000FF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9C0FF8-6094-3C8C-BCD2-5118EED1D6F9}"/>
              </a:ext>
            </a:extLst>
          </p:cNvPr>
          <p:cNvSpPr txBox="1"/>
          <p:nvPr/>
        </p:nvSpPr>
        <p:spPr>
          <a:xfrm>
            <a:off x="9976638" y="281672"/>
            <a:ext cx="181832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dirty="0"/>
              <a:t>データ共有基盤</a:t>
            </a:r>
            <a:endParaRPr kumimoji="1" lang="en-US" altLang="ja-JP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A8C951C-B6FD-42B9-A338-EFF2E6E8D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20" r="60486" b="35596"/>
          <a:stretch/>
        </p:blipFill>
        <p:spPr bwMode="auto">
          <a:xfrm>
            <a:off x="5275324" y="44624"/>
            <a:ext cx="1954255" cy="83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93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TM02900688[[fn=ファセット]]</Template>
  <TotalTime>362</TotalTime>
  <Words>205</Words>
  <Application>Microsoft Office PowerPoint</Application>
  <PresentationFormat>ワイド画面</PresentationFormat>
  <Paragraphs>124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ゴシック</vt:lpstr>
      <vt:lpstr>游ゴシック</vt:lpstr>
      <vt:lpstr>Trebuchet MS</vt:lpstr>
      <vt:lpstr>Wingdings 3</vt:lpstr>
      <vt:lpstr>ファセット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山本竜三</dc:creator>
  <cp:lastModifiedBy>竜三 山本</cp:lastModifiedBy>
  <cp:revision>23</cp:revision>
  <cp:lastPrinted>2025-04-12T02:22:05Z</cp:lastPrinted>
  <dcterms:created xsi:type="dcterms:W3CDTF">2021-01-28T13:14:00Z</dcterms:created>
  <dcterms:modified xsi:type="dcterms:W3CDTF">2025-11-30T23:17:47Z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1709AFD63A624E308540C86CB0C77DA9_12</vt:lpwstr>
  </property>
  <property fmtid="{D5CDD505-2E9C-101B-9397-08002B2CF9AE}" pid="3" name="KSOProductBuildVer">
    <vt:lpwstr>1041-12.2.0.13110</vt:lpwstr>
  </property>
</Properties>
</file>