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49" r:id="rId1"/>
  </p:sldMasterIdLst>
  <p:notesMasterIdLst>
    <p:notesMasterId r:id="rId3"/>
  </p:notesMasterIdLst>
  <p:sldIdLst>
    <p:sldId id="323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7" userDrawn="1">
          <p15:clr>
            <a:srgbClr val="A4A3A4"/>
          </p15:clr>
        </p15:guide>
        <p15:guide id="2" pos="378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BD786"/>
    <a:srgbClr val="F7797D"/>
    <a:srgbClr val="78FFD6"/>
    <a:srgbClr val="A8FF78"/>
    <a:srgbClr val="C6FFD3"/>
    <a:srgbClr val="000000"/>
    <a:srgbClr val="7D7D7D"/>
    <a:srgbClr val="003366"/>
    <a:srgbClr val="B00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58" autoAdjust="0"/>
    <p:restoredTop sz="78788" autoAdjust="0"/>
  </p:normalViewPr>
  <p:slideViewPr>
    <p:cSldViewPr showGuides="1">
      <p:cViewPr varScale="1">
        <p:scale>
          <a:sx n="87" d="100"/>
          <a:sy n="87" d="100"/>
        </p:scale>
        <p:origin x="714" y="84"/>
      </p:cViewPr>
      <p:guideLst>
        <p:guide orient="horz" pos="2167"/>
        <p:guide pos="37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49738D-D75D-40B1-BF46-FC9ACBB15E75}" type="datetimeFigureOut">
              <a:rPr kumimoji="1" lang="ja-JP" altLang="en-US" smtClean="0"/>
              <a:t>2025/11/27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5198F-549A-4508-B579-8CA394E947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552E-3056-DED2-365A-66C4530B8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C76D74F-FFC5-9EF4-6CCF-E6B4807E6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C0552A-6804-988A-2766-4E2FA46C5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0CD7FB-DF7A-2C6D-E1A3-35A694D28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5198F-549A-4508-B579-8CA394E94788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0379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en-US" altLang="ja-JP"/>
              <a:t>Copyright.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624458-F4DE-4903-8109-826F45244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4867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0" advTm="15000"/>
    </mc:Choice>
    <mc:Fallback xmlns="">
      <p:transition spd="slow" advTm="15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kumimoji="1" lang="en-US" altLang="ja-JP"/>
              <a:t>Copyright.</a:t>
            </a:r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A624458-F4DE-4903-8109-826F45244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595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</p:sldLayoutIdLst>
  <mc:AlternateContent xmlns:mc="http://schemas.openxmlformats.org/markup-compatibility/2006" xmlns:p14="http://schemas.microsoft.com/office/powerpoint/2010/main">
    <mc:Choice Requires="p14">
      <p:transition spd="slow" p14:dur="15000" advTm="15000"/>
    </mc:Choice>
    <mc:Fallback xmlns="">
      <p:transition spd="slow" advTm="15000"/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kumimoji="1"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hyperlink" Target="https://www.nilim.go.jp/lab/qbg/bimcim/standard.html" TargetMode="Externa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9CB56-041B-43D7-0773-73F3CE001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雲 114">
            <a:extLst>
              <a:ext uri="{FF2B5EF4-FFF2-40B4-BE49-F238E27FC236}">
                <a16:creationId xmlns:a16="http://schemas.microsoft.com/office/drawing/2014/main" id="{C2636901-8702-64D4-1E1C-8D9AB072AB51}"/>
              </a:ext>
            </a:extLst>
          </p:cNvPr>
          <p:cNvSpPr/>
          <p:nvPr/>
        </p:nvSpPr>
        <p:spPr>
          <a:xfrm>
            <a:off x="91062" y="673296"/>
            <a:ext cx="10345069" cy="5683282"/>
          </a:xfrm>
          <a:prstGeom prst="cloud">
            <a:avLst/>
          </a:prstGeom>
          <a:ln>
            <a:solidFill>
              <a:srgbClr val="0000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solidFill>
                <a:schemeClr val="dk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5B08942-957E-64BA-252E-3D0C7C02355E}"/>
              </a:ext>
            </a:extLst>
          </p:cNvPr>
          <p:cNvSpPr txBox="1"/>
          <p:nvPr/>
        </p:nvSpPr>
        <p:spPr>
          <a:xfrm>
            <a:off x="204751" y="127282"/>
            <a:ext cx="41563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ﾌﾟﾛｼﾞｪｸﾄ</a:t>
            </a:r>
            <a:r>
              <a:rPr lang="en-US" altLang="ja-JP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CDE</a:t>
            </a:r>
            <a:r>
              <a:rPr lang="ja-JP" altLang="en-US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基盤</a:t>
            </a:r>
            <a:endParaRPr lang="ja-JP" altLang="en-US" sz="3200" b="1" i="0" u="sng" dirty="0">
              <a:solidFill>
                <a:srgbClr val="00B0F0"/>
              </a:solidFill>
              <a:effectLst/>
              <a:highlight>
                <a:srgbClr val="FFFFFF"/>
              </a:highlight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352AC834-2BC1-7AA7-0D74-46170B2FE949}"/>
              </a:ext>
            </a:extLst>
          </p:cNvPr>
          <p:cNvCxnSpPr>
            <a:cxnSpLocks/>
            <a:stCxn id="26" idx="1"/>
            <a:endCxn id="36" idx="2"/>
          </p:cNvCxnSpPr>
          <p:nvPr/>
        </p:nvCxnSpPr>
        <p:spPr>
          <a:xfrm rot="10800000">
            <a:off x="6190291" y="1907218"/>
            <a:ext cx="2425555" cy="727443"/>
          </a:xfrm>
          <a:prstGeom prst="bentConnector2">
            <a:avLst/>
          </a:prstGeom>
          <a:ln w="635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コネクタ: カギ線 75">
            <a:extLst>
              <a:ext uri="{FF2B5EF4-FFF2-40B4-BE49-F238E27FC236}">
                <a16:creationId xmlns:a16="http://schemas.microsoft.com/office/drawing/2014/main" id="{B8DE16F0-8088-B153-9A1E-441B9F6669D9}"/>
              </a:ext>
            </a:extLst>
          </p:cNvPr>
          <p:cNvCxnSpPr>
            <a:cxnSpLocks/>
            <a:stCxn id="1037" idx="3"/>
            <a:endCxn id="36" idx="2"/>
          </p:cNvCxnSpPr>
          <p:nvPr/>
        </p:nvCxnSpPr>
        <p:spPr>
          <a:xfrm flipV="1">
            <a:off x="3862298" y="1907217"/>
            <a:ext cx="2327992" cy="718722"/>
          </a:xfrm>
          <a:prstGeom prst="bentConnector2">
            <a:avLst/>
          </a:prstGeom>
          <a:ln w="635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1" name="コネクタ: カギ線 1050">
            <a:extLst>
              <a:ext uri="{FF2B5EF4-FFF2-40B4-BE49-F238E27FC236}">
                <a16:creationId xmlns:a16="http://schemas.microsoft.com/office/drawing/2014/main" id="{F7891F06-47A6-A25C-9A39-B51C963F44D9}"/>
              </a:ext>
            </a:extLst>
          </p:cNvPr>
          <p:cNvCxnSpPr>
            <a:cxnSpLocks/>
            <a:stCxn id="71" idx="3"/>
            <a:endCxn id="36" idx="2"/>
          </p:cNvCxnSpPr>
          <p:nvPr/>
        </p:nvCxnSpPr>
        <p:spPr>
          <a:xfrm flipV="1">
            <a:off x="4140259" y="1907217"/>
            <a:ext cx="2050031" cy="3530070"/>
          </a:xfrm>
          <a:prstGeom prst="bentConnector2">
            <a:avLst/>
          </a:prstGeom>
          <a:ln w="635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2AB50BB-B6D6-61B9-FA3A-40B62F75DCDE}"/>
              </a:ext>
            </a:extLst>
          </p:cNvPr>
          <p:cNvGrpSpPr/>
          <p:nvPr/>
        </p:nvGrpSpPr>
        <p:grpSpPr>
          <a:xfrm>
            <a:off x="4112108" y="317637"/>
            <a:ext cx="4156364" cy="1589580"/>
            <a:chOff x="4249281" y="1184900"/>
            <a:chExt cx="4156364" cy="1589580"/>
          </a:xfrm>
        </p:grpSpPr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F535FE33-194B-8AFB-6CA2-C7C01EDFF096}"/>
                </a:ext>
              </a:extLst>
            </p:cNvPr>
            <p:cNvCxnSpPr>
              <a:cxnSpLocks/>
              <a:stCxn id="36" idx="1"/>
              <a:endCxn id="36" idx="3"/>
            </p:cNvCxnSpPr>
            <p:nvPr/>
          </p:nvCxnSpPr>
          <p:spPr>
            <a:xfrm>
              <a:off x="4249281" y="2157520"/>
              <a:ext cx="4156364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D0CC26E9-E455-A24C-D38D-C835C60428BA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 flipH="1" flipV="1">
              <a:off x="6317414" y="2157520"/>
              <a:ext cx="10049" cy="616960"/>
            </a:xfrm>
            <a:prstGeom prst="line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grpSp>
          <p:nvGrpSpPr>
            <p:cNvPr id="68" name="グループ化 67">
              <a:extLst>
                <a:ext uri="{FF2B5EF4-FFF2-40B4-BE49-F238E27FC236}">
                  <a16:creationId xmlns:a16="http://schemas.microsoft.com/office/drawing/2014/main" id="{D1CED3E8-5834-F00E-1176-45751174337C}"/>
                </a:ext>
              </a:extLst>
            </p:cNvPr>
            <p:cNvGrpSpPr/>
            <p:nvPr/>
          </p:nvGrpSpPr>
          <p:grpSpPr>
            <a:xfrm>
              <a:off x="4249281" y="1540560"/>
              <a:ext cx="4156364" cy="1233920"/>
              <a:chOff x="3935760" y="2996952"/>
              <a:chExt cx="4156364" cy="1233920"/>
            </a:xfrm>
          </p:grpSpPr>
          <p:sp>
            <p:nvSpPr>
              <p:cNvPr id="36" name="四角形: 角を丸くする 35">
                <a:extLst>
                  <a:ext uri="{FF2B5EF4-FFF2-40B4-BE49-F238E27FC236}">
                    <a16:creationId xmlns:a16="http://schemas.microsoft.com/office/drawing/2014/main" id="{59FF9888-12E7-F675-7D48-BB7DB683A528}"/>
                  </a:ext>
                </a:extLst>
              </p:cNvPr>
              <p:cNvSpPr/>
              <p:nvPr/>
            </p:nvSpPr>
            <p:spPr>
              <a:xfrm>
                <a:off x="3935760" y="2996952"/>
                <a:ext cx="4156364" cy="1233920"/>
              </a:xfrm>
              <a:prstGeom prst="roundRect">
                <a:avLst>
                  <a:gd name="adj" fmla="val 24007"/>
                </a:avLst>
              </a:prstGeom>
              <a:solidFill>
                <a:schemeClr val="lt1"/>
              </a:solidFill>
              <a:ln>
                <a:solidFill>
                  <a:srgbClr val="FF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a16:creationId xmlns:a16="http://schemas.microsoft.com/office/drawing/2014/main" id="{4A9C5FA7-FB7A-F7E3-F530-4955F1A706B7}"/>
                  </a:ext>
                </a:extLst>
              </p:cNvPr>
              <p:cNvSpPr txBox="1"/>
              <p:nvPr/>
            </p:nvSpPr>
            <p:spPr>
              <a:xfrm>
                <a:off x="4770860" y="3178066"/>
                <a:ext cx="23765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属性情報：</a:t>
                </a:r>
                <a:r>
                  <a:rPr kumimoji="1" lang="en-US" altLang="ja-JP" dirty="0"/>
                  <a:t>CSV</a:t>
                </a:r>
                <a:r>
                  <a:rPr kumimoji="1" lang="ja-JP" altLang="en-US" dirty="0"/>
                  <a:t>連携</a:t>
                </a: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6FA843B0-DE9E-5E23-1FC1-A2302CBE490B}"/>
                  </a:ext>
                </a:extLst>
              </p:cNvPr>
              <p:cNvSpPr txBox="1"/>
              <p:nvPr/>
            </p:nvSpPr>
            <p:spPr>
              <a:xfrm>
                <a:off x="4198020" y="3738781"/>
                <a:ext cx="17281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施工計画</a:t>
                </a: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EAA3A383-926A-9CC7-8D02-8FC6F50CA1FF}"/>
                  </a:ext>
                </a:extLst>
              </p:cNvPr>
              <p:cNvSpPr txBox="1"/>
              <p:nvPr/>
            </p:nvSpPr>
            <p:spPr>
              <a:xfrm>
                <a:off x="6003892" y="3736605"/>
                <a:ext cx="20882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積算（数量計算）</a:t>
                </a:r>
              </a:p>
            </p:txBody>
          </p:sp>
        </p:grpSp>
        <p:grpSp>
          <p:nvGrpSpPr>
            <p:cNvPr id="1060" name="グループ化 1059">
              <a:extLst>
                <a:ext uri="{FF2B5EF4-FFF2-40B4-BE49-F238E27FC236}">
                  <a16:creationId xmlns:a16="http://schemas.microsoft.com/office/drawing/2014/main" id="{D0842B7B-9998-8347-0B5C-80D8C4FF2420}"/>
                </a:ext>
              </a:extLst>
            </p:cNvPr>
            <p:cNvGrpSpPr/>
            <p:nvPr/>
          </p:nvGrpSpPr>
          <p:grpSpPr>
            <a:xfrm>
              <a:off x="5072990" y="1184900"/>
              <a:ext cx="2565597" cy="476806"/>
              <a:chOff x="2639617" y="769479"/>
              <a:chExt cx="2930320" cy="476806"/>
            </a:xfrm>
          </p:grpSpPr>
          <p:sp>
            <p:nvSpPr>
              <p:cNvPr id="1055" name="四角形: 角を丸くする 1054">
                <a:extLst>
                  <a:ext uri="{FF2B5EF4-FFF2-40B4-BE49-F238E27FC236}">
                    <a16:creationId xmlns:a16="http://schemas.microsoft.com/office/drawing/2014/main" id="{1B109364-7DB2-6C2F-43CC-C15B800AF6F7}"/>
                  </a:ext>
                </a:extLst>
              </p:cNvPr>
              <p:cNvSpPr/>
              <p:nvPr/>
            </p:nvSpPr>
            <p:spPr>
              <a:xfrm>
                <a:off x="2639617" y="769479"/>
                <a:ext cx="2930320" cy="47680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446088" indent="-182563" algn="ctr">
                  <a:lnSpc>
                    <a:spcPct val="130000"/>
                  </a:lnSpc>
                  <a:spcAft>
                    <a:spcPts val="6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型式変換による連携</a:t>
                </a:r>
                <a:endParaRPr kumimoji="1" lang="en-US" altLang="ja-JP" sz="1200" dirty="0">
                  <a:solidFill>
                    <a:schemeClr val="tx1"/>
                  </a:solidFill>
                  <a:latin typeface="+mn-ea"/>
                </a:endParaRPr>
              </a:p>
              <a:p>
                <a:pPr marL="446088" indent="-182563" algn="ctr">
                  <a:lnSpc>
                    <a:spcPts val="500"/>
                  </a:lnSpc>
                  <a:spcAft>
                    <a:spcPts val="6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様々な台帳と連携　</a:t>
                </a:r>
              </a:p>
            </p:txBody>
          </p:sp>
          <p:pic>
            <p:nvPicPr>
              <p:cNvPr id="1059" name="図 1058">
                <a:extLst>
                  <a:ext uri="{FF2B5EF4-FFF2-40B4-BE49-F238E27FC236}">
                    <a16:creationId xmlns:a16="http://schemas.microsoft.com/office/drawing/2014/main" id="{575466C0-1716-2F94-2F63-DB63FA8CAF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86477" y="850093"/>
                <a:ext cx="373266" cy="319038"/>
              </a:xfrm>
              <a:prstGeom prst="rect">
                <a:avLst/>
              </a:prstGeom>
            </p:spPr>
          </p:pic>
        </p:grpSp>
      </p:grpSp>
      <p:grpSp>
        <p:nvGrpSpPr>
          <p:cNvPr id="79" name="グループ化 78">
            <a:extLst>
              <a:ext uri="{FF2B5EF4-FFF2-40B4-BE49-F238E27FC236}">
                <a16:creationId xmlns:a16="http://schemas.microsoft.com/office/drawing/2014/main" id="{B3E7E15E-F62A-63DD-3035-264568828D11}"/>
              </a:ext>
            </a:extLst>
          </p:cNvPr>
          <p:cNvGrpSpPr/>
          <p:nvPr/>
        </p:nvGrpSpPr>
        <p:grpSpPr>
          <a:xfrm>
            <a:off x="8184231" y="1772816"/>
            <a:ext cx="2953923" cy="1559515"/>
            <a:chOff x="8773833" y="1750641"/>
            <a:chExt cx="2820139" cy="1559515"/>
          </a:xfrm>
        </p:grpSpPr>
        <p:grpSp>
          <p:nvGrpSpPr>
            <p:cNvPr id="120" name="グループ化 119">
              <a:extLst>
                <a:ext uri="{FF2B5EF4-FFF2-40B4-BE49-F238E27FC236}">
                  <a16:creationId xmlns:a16="http://schemas.microsoft.com/office/drawing/2014/main" id="{3DB9D75D-C406-49DD-DE12-84F2739A8782}"/>
                </a:ext>
              </a:extLst>
            </p:cNvPr>
            <p:cNvGrpSpPr/>
            <p:nvPr/>
          </p:nvGrpSpPr>
          <p:grpSpPr>
            <a:xfrm>
              <a:off x="8773833" y="1936837"/>
              <a:ext cx="2820139" cy="1161239"/>
              <a:chOff x="8604453" y="1232496"/>
              <a:chExt cx="2820139" cy="1161239"/>
            </a:xfrm>
          </p:grpSpPr>
          <p:grpSp>
            <p:nvGrpSpPr>
              <p:cNvPr id="28" name="グループ化 27">
                <a:extLst>
                  <a:ext uri="{FF2B5EF4-FFF2-40B4-BE49-F238E27FC236}">
                    <a16:creationId xmlns:a16="http://schemas.microsoft.com/office/drawing/2014/main" id="{D93FDB46-0C78-AD06-E48F-05B6E87F7FC0}"/>
                  </a:ext>
                </a:extLst>
              </p:cNvPr>
              <p:cNvGrpSpPr/>
              <p:nvPr/>
            </p:nvGrpSpPr>
            <p:grpSpPr>
              <a:xfrm>
                <a:off x="9016518" y="1422552"/>
                <a:ext cx="2408074" cy="971183"/>
                <a:chOff x="2423593" y="3429000"/>
                <a:chExt cx="2232248" cy="971183"/>
              </a:xfrm>
              <a:solidFill>
                <a:schemeClr val="bg1"/>
              </a:solidFill>
            </p:grpSpPr>
            <p:sp>
              <p:nvSpPr>
                <p:cNvPr id="26" name="四角形: 角を丸くする 25">
                  <a:extLst>
                    <a:ext uri="{FF2B5EF4-FFF2-40B4-BE49-F238E27FC236}">
                      <a16:creationId xmlns:a16="http://schemas.microsoft.com/office/drawing/2014/main" id="{68F45136-0141-770C-B875-818596A4CD23}"/>
                    </a:ext>
                  </a:extLst>
                </p:cNvPr>
                <p:cNvSpPr/>
                <p:nvPr/>
              </p:nvSpPr>
              <p:spPr>
                <a:xfrm>
                  <a:off x="2423593" y="3429000"/>
                  <a:ext cx="2232248" cy="971183"/>
                </a:xfrm>
                <a:prstGeom prst="roundRect">
                  <a:avLst>
                    <a:gd name="adj" fmla="val 19858"/>
                  </a:avLst>
                </a:prstGeom>
                <a:grpFill/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ja-JP" altLang="en-US" sz="2000" dirty="0">
                    <a:solidFill>
                      <a:srgbClr val="FF0000"/>
                    </a:solidFill>
                    <a:latin typeface="+mn-ea"/>
                  </a:endParaRPr>
                </a:p>
              </p:txBody>
            </p:sp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4829572E-EDC7-6C34-B353-134C75F73704}"/>
                    </a:ext>
                  </a:extLst>
                </p:cNvPr>
                <p:cNvSpPr txBox="1"/>
                <p:nvPr/>
              </p:nvSpPr>
              <p:spPr>
                <a:xfrm>
                  <a:off x="2439682" y="3700820"/>
                  <a:ext cx="1483699" cy="553830"/>
                </a:xfrm>
                <a:prstGeom prst="rect">
                  <a:avLst/>
                </a:prstGeom>
                <a:grpFill/>
              </p:spPr>
              <p:txBody>
                <a:bodyPr wrap="square">
                  <a:noAutofit/>
                </a:bodyPr>
                <a:lstStyle/>
                <a:p>
                  <a:pPr algn="ctr"/>
                  <a:r>
                    <a:rPr lang="ja-JP" altLang="en-US" sz="2400" dirty="0">
                      <a:hlinkClick r:id="rId4"/>
                    </a:rPr>
                    <a:t>BIM/CIM</a:t>
                  </a:r>
                  <a:endParaRPr lang="ja-JP" altLang="en-US" sz="2400" dirty="0"/>
                </a:p>
              </p:txBody>
            </p:sp>
          </p:grpSp>
          <p:sp>
            <p:nvSpPr>
              <p:cNvPr id="119" name="四角形: 角を丸くする 118">
                <a:extLst>
                  <a:ext uri="{FF2B5EF4-FFF2-40B4-BE49-F238E27FC236}">
                    <a16:creationId xmlns:a16="http://schemas.microsoft.com/office/drawing/2014/main" id="{39741BD7-3D92-A09A-F25B-6BA5787039C0}"/>
                  </a:ext>
                </a:extLst>
              </p:cNvPr>
              <p:cNvSpPr/>
              <p:nvPr/>
            </p:nvSpPr>
            <p:spPr>
              <a:xfrm>
                <a:off x="8604453" y="1232496"/>
                <a:ext cx="1116166" cy="40805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IFC</a:t>
                </a:r>
                <a:endParaRPr kumimoji="1"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pic>
          <p:nvPicPr>
            <p:cNvPr id="1088" name="図 1087">
              <a:extLst>
                <a:ext uri="{FF2B5EF4-FFF2-40B4-BE49-F238E27FC236}">
                  <a16:creationId xmlns:a16="http://schemas.microsoft.com/office/drawing/2014/main" id="{BF17B283-E06E-9F88-BF0E-11408CF22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904984" y="2217481"/>
              <a:ext cx="625835" cy="625835"/>
            </a:xfrm>
            <a:prstGeom prst="rect">
              <a:avLst/>
            </a:prstGeom>
          </p:spPr>
        </p:pic>
        <p:pic>
          <p:nvPicPr>
            <p:cNvPr id="1094" name="図 1093">
              <a:extLst>
                <a:ext uri="{FF2B5EF4-FFF2-40B4-BE49-F238E27FC236}">
                  <a16:creationId xmlns:a16="http://schemas.microsoft.com/office/drawing/2014/main" id="{D631097B-2915-3E4B-DFCA-B5594FF7B8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941098" y="2770395"/>
              <a:ext cx="553600" cy="539761"/>
            </a:xfrm>
            <a:prstGeom prst="rect">
              <a:avLst/>
            </a:prstGeom>
          </p:spPr>
        </p:pic>
        <p:pic>
          <p:nvPicPr>
            <p:cNvPr id="1096" name="図 1095">
              <a:extLst>
                <a:ext uri="{FF2B5EF4-FFF2-40B4-BE49-F238E27FC236}">
                  <a16:creationId xmlns:a16="http://schemas.microsoft.com/office/drawing/2014/main" id="{10F73C42-0216-56D1-C002-70DCB053F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64230" y="1750641"/>
              <a:ext cx="507343" cy="565325"/>
            </a:xfrm>
            <a:prstGeom prst="rect">
              <a:avLst/>
            </a:prstGeom>
          </p:spPr>
        </p:pic>
      </p:grpSp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57945CD5-F06F-1E41-6690-F9E9EE1093E5}"/>
              </a:ext>
            </a:extLst>
          </p:cNvPr>
          <p:cNvGrpSpPr/>
          <p:nvPr/>
        </p:nvGrpSpPr>
        <p:grpSpPr>
          <a:xfrm>
            <a:off x="839416" y="1894886"/>
            <a:ext cx="3022883" cy="1462106"/>
            <a:chOff x="5685257" y="2168640"/>
            <a:chExt cx="2848912" cy="1462106"/>
          </a:xfrm>
        </p:grpSpPr>
        <p:grpSp>
          <p:nvGrpSpPr>
            <p:cNvPr id="1033" name="グループ化 1032">
              <a:extLst>
                <a:ext uri="{FF2B5EF4-FFF2-40B4-BE49-F238E27FC236}">
                  <a16:creationId xmlns:a16="http://schemas.microsoft.com/office/drawing/2014/main" id="{1DC9B606-2CC2-1EAB-D272-C485F08E7E38}"/>
                </a:ext>
              </a:extLst>
            </p:cNvPr>
            <p:cNvGrpSpPr/>
            <p:nvPr/>
          </p:nvGrpSpPr>
          <p:grpSpPr>
            <a:xfrm>
              <a:off x="5685257" y="2168640"/>
              <a:ext cx="2848912" cy="1462106"/>
              <a:chOff x="4195665" y="1280212"/>
              <a:chExt cx="3504882" cy="1670060"/>
            </a:xfrm>
            <a:solidFill>
              <a:schemeClr val="bg1"/>
            </a:solidFill>
          </p:grpSpPr>
          <p:grpSp>
            <p:nvGrpSpPr>
              <p:cNvPr id="1034" name="グループ化 1033">
                <a:extLst>
                  <a:ext uri="{FF2B5EF4-FFF2-40B4-BE49-F238E27FC236}">
                    <a16:creationId xmlns:a16="http://schemas.microsoft.com/office/drawing/2014/main" id="{304B068C-BAF7-D03F-4B89-423F787EFD99}"/>
                  </a:ext>
                </a:extLst>
              </p:cNvPr>
              <p:cNvGrpSpPr/>
              <p:nvPr/>
            </p:nvGrpSpPr>
            <p:grpSpPr>
              <a:xfrm>
                <a:off x="4195665" y="1280212"/>
                <a:ext cx="3504881" cy="1670060"/>
                <a:chOff x="990956" y="1161673"/>
                <a:chExt cx="3142948" cy="1670060"/>
              </a:xfrm>
              <a:grpFill/>
            </p:grpSpPr>
            <p:sp>
              <p:nvSpPr>
                <p:cNvPr id="1037" name="四角形: 角を丸くする 1036">
                  <a:extLst>
                    <a:ext uri="{FF2B5EF4-FFF2-40B4-BE49-F238E27FC236}">
                      <a16:creationId xmlns:a16="http://schemas.microsoft.com/office/drawing/2014/main" id="{B2F205E4-F4B0-1833-7679-C6CC97E8F23B}"/>
                    </a:ext>
                  </a:extLst>
                </p:cNvPr>
                <p:cNvSpPr/>
                <p:nvPr/>
              </p:nvSpPr>
              <p:spPr>
                <a:xfrm>
                  <a:off x="990956" y="1161673"/>
                  <a:ext cx="3142948" cy="1670060"/>
                </a:xfrm>
                <a:prstGeom prst="roundRect">
                  <a:avLst>
                    <a:gd name="adj" fmla="val 19858"/>
                  </a:avLst>
                </a:prstGeom>
                <a:grpFill/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ja-JP" altLang="en-US" sz="2000" dirty="0">
                    <a:solidFill>
                      <a:srgbClr val="FF0000"/>
                    </a:solidFill>
                    <a:latin typeface="+mn-ea"/>
                  </a:endParaRPr>
                </a:p>
              </p:txBody>
            </p:sp>
            <p:sp>
              <p:nvSpPr>
                <p:cNvPr id="1038" name="テキスト ボックス 1037">
                  <a:extLst>
                    <a:ext uri="{FF2B5EF4-FFF2-40B4-BE49-F238E27FC236}">
                      <a16:creationId xmlns:a16="http://schemas.microsoft.com/office/drawing/2014/main" id="{42D64695-ED94-C6A0-8201-19BE4554C1BE}"/>
                    </a:ext>
                  </a:extLst>
                </p:cNvPr>
                <p:cNvSpPr txBox="1"/>
                <p:nvPr/>
              </p:nvSpPr>
              <p:spPr>
                <a:xfrm>
                  <a:off x="1537151" y="1218604"/>
                  <a:ext cx="1728192" cy="369332"/>
                </a:xfrm>
                <a:prstGeom prst="rect">
                  <a:avLst/>
                </a:prstGeom>
                <a:grp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kumimoji="1" lang="ja-JP" altLang="en-US" dirty="0"/>
                    <a:t>ＣＡＤ</a:t>
                  </a:r>
                </a:p>
              </p:txBody>
            </p:sp>
          </p:grpSp>
          <p:cxnSp>
            <p:nvCxnSpPr>
              <p:cNvPr id="1035" name="直線コネクタ 1034">
                <a:extLst>
                  <a:ext uri="{FF2B5EF4-FFF2-40B4-BE49-F238E27FC236}">
                    <a16:creationId xmlns:a16="http://schemas.microsoft.com/office/drawing/2014/main" id="{0AA4B572-11F3-CFBB-00B9-6AB1E4441D0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95665" y="1777318"/>
                <a:ext cx="3504882" cy="1379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</p:cxnSp>
        </p:grp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A653746-F2C9-28D5-8018-1A1C76DE5D38}"/>
                </a:ext>
              </a:extLst>
            </p:cNvPr>
            <p:cNvGrpSpPr/>
            <p:nvPr/>
          </p:nvGrpSpPr>
          <p:grpSpPr>
            <a:xfrm>
              <a:off x="5822890" y="2650649"/>
              <a:ext cx="2579861" cy="923330"/>
              <a:chOff x="1487488" y="4741697"/>
              <a:chExt cx="2579861" cy="923330"/>
            </a:xfrm>
          </p:grpSpPr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F7F8F3C5-11BE-2D80-4EE6-8A5B2F23D61F}"/>
                  </a:ext>
                </a:extLst>
              </p:cNvPr>
              <p:cNvSpPr txBox="1"/>
              <p:nvPr/>
            </p:nvSpPr>
            <p:spPr>
              <a:xfrm>
                <a:off x="2168748" y="4741697"/>
                <a:ext cx="189860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r>
                  <a:rPr kumimoji="1" lang="en-US" altLang="ja-JP" dirty="0"/>
                  <a:t>MAP3D</a:t>
                </a:r>
                <a:r>
                  <a:rPr kumimoji="1" lang="ja-JP" altLang="en-US" dirty="0"/>
                  <a:t>・</a:t>
                </a:r>
                <a:r>
                  <a:rPr kumimoji="1" lang="en-US" altLang="ja-JP" dirty="0"/>
                  <a:t>CIVIL3D</a:t>
                </a:r>
              </a:p>
              <a:p>
                <a:r>
                  <a:rPr kumimoji="1" lang="ja-JP" altLang="en-US" dirty="0"/>
                  <a:t>・</a:t>
                </a:r>
                <a:r>
                  <a:rPr kumimoji="1" lang="en-US" altLang="ja-JP" dirty="0"/>
                  <a:t>EPSG</a:t>
                </a:r>
                <a:r>
                  <a:rPr kumimoji="1" lang="ja-JP" altLang="en-US" dirty="0"/>
                  <a:t>ｺｰﾄﾞ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</a:t>
                </a:r>
                <a:r>
                  <a:rPr kumimoji="1" lang="en-US" altLang="ja-JP" dirty="0"/>
                  <a:t>DWG2013</a:t>
                </a:r>
                <a:r>
                  <a:rPr kumimoji="1" lang="ja-JP" altLang="en-US" dirty="0"/>
                  <a:t>出力</a:t>
                </a:r>
              </a:p>
            </p:txBody>
          </p:sp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E2463149-3E7B-E2AE-B7E4-C2D12C327E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87488" y="4897788"/>
                <a:ext cx="660996" cy="629519"/>
              </a:xfrm>
              <a:prstGeom prst="rect">
                <a:avLst/>
              </a:prstGeom>
            </p:spPr>
          </p:pic>
        </p:grpSp>
      </p:grp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BFAA1CB-4B5E-1EE9-6D41-56CB5180175C}"/>
              </a:ext>
            </a:extLst>
          </p:cNvPr>
          <p:cNvCxnSpPr>
            <a:cxnSpLocks/>
            <a:stCxn id="1037" idx="2"/>
            <a:endCxn id="71" idx="0"/>
          </p:cNvCxnSpPr>
          <p:nvPr/>
        </p:nvCxnSpPr>
        <p:spPr>
          <a:xfrm rot="16200000" flipH="1">
            <a:off x="1958927" y="3748922"/>
            <a:ext cx="820946" cy="37086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0CEF2AA8-DCE5-D068-419E-25A49490006B}"/>
              </a:ext>
            </a:extLst>
          </p:cNvPr>
          <p:cNvCxnSpPr>
            <a:cxnSpLocks/>
            <a:stCxn id="1028" idx="0"/>
            <a:endCxn id="26" idx="2"/>
          </p:cNvCxnSpPr>
          <p:nvPr/>
        </p:nvCxnSpPr>
        <p:spPr>
          <a:xfrm rot="16200000" flipV="1">
            <a:off x="9446596" y="3550655"/>
            <a:ext cx="862788" cy="1979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4EABFFD1-34AF-1478-0383-4BE935FA5516}"/>
              </a:ext>
            </a:extLst>
          </p:cNvPr>
          <p:cNvGrpSpPr/>
          <p:nvPr/>
        </p:nvGrpSpPr>
        <p:grpSpPr>
          <a:xfrm>
            <a:off x="8616280" y="3983039"/>
            <a:ext cx="2525398" cy="2646956"/>
            <a:chOff x="9127236" y="3718951"/>
            <a:chExt cx="2525398" cy="2646956"/>
          </a:xfrm>
        </p:grpSpPr>
        <p:pic>
          <p:nvPicPr>
            <p:cNvPr id="1028" name="Picture 4" descr="見出し画像">
              <a:extLst>
                <a:ext uri="{FF2B5EF4-FFF2-40B4-BE49-F238E27FC236}">
                  <a16:creationId xmlns:a16="http://schemas.microsoft.com/office/drawing/2014/main" id="{153DCA27-C9E4-74BD-45FC-7B2FDA83B35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024" t="22307" r="9289" b="22840"/>
            <a:stretch>
              <a:fillRect/>
            </a:stretch>
          </p:blipFill>
          <p:spPr bwMode="auto">
            <a:xfrm>
              <a:off x="9127236" y="3718951"/>
              <a:ext cx="2525397" cy="882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A54FFC3-DC37-31B8-6764-36A6515003A8}"/>
                </a:ext>
              </a:extLst>
            </p:cNvPr>
            <p:cNvSpPr txBox="1"/>
            <p:nvPr/>
          </p:nvSpPr>
          <p:spPr>
            <a:xfrm>
              <a:off x="9127236" y="5719576"/>
              <a:ext cx="2525397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dirty="0"/>
                <a:t>3DTILES</a:t>
              </a:r>
              <a:r>
                <a:rPr kumimoji="1" lang="ja-JP" altLang="en-US" dirty="0"/>
                <a:t>による</a:t>
              </a:r>
              <a:endParaRPr kumimoji="1" lang="en-US" altLang="ja-JP" dirty="0"/>
            </a:p>
            <a:p>
              <a:pPr algn="ctr"/>
              <a:r>
                <a:rPr kumimoji="1" lang="ja-JP" altLang="en-US" dirty="0"/>
                <a:t>可視化に特化</a:t>
              </a:r>
              <a:endParaRPr kumimoji="1" lang="en-US" altLang="ja-JP" dirty="0"/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D13E0A89-4CFF-25C6-CB01-E739D8A8E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98355" y="4601547"/>
              <a:ext cx="954279" cy="1114917"/>
            </a:xfrm>
            <a:prstGeom prst="rect">
              <a:avLst/>
            </a:prstGeom>
          </p:spPr>
        </p:pic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A9157FB9-D7D9-08C6-8031-F06F56ECD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127237" y="4603103"/>
              <a:ext cx="950931" cy="1140189"/>
            </a:xfrm>
            <a:prstGeom prst="rect">
              <a:avLst/>
            </a:prstGeom>
            <a:ln w="44450">
              <a:solidFill>
                <a:srgbClr val="00B0F0"/>
              </a:solidFill>
            </a:ln>
          </p:spPr>
        </p:pic>
      </p:grpSp>
      <p:cxnSp>
        <p:nvCxnSpPr>
          <p:cNvPr id="48" name="コネクタ: カギ線 47">
            <a:extLst>
              <a:ext uri="{FF2B5EF4-FFF2-40B4-BE49-F238E27FC236}">
                <a16:creationId xmlns:a16="http://schemas.microsoft.com/office/drawing/2014/main" id="{BE0F942D-48D5-176A-3D69-CD9DCD0DFFFB}"/>
              </a:ext>
            </a:extLst>
          </p:cNvPr>
          <p:cNvCxnSpPr>
            <a:cxnSpLocks/>
            <a:stCxn id="66" idx="3"/>
            <a:endCxn id="32" idx="1"/>
          </p:cNvCxnSpPr>
          <p:nvPr/>
        </p:nvCxnSpPr>
        <p:spPr>
          <a:xfrm flipV="1">
            <a:off x="4129992" y="5437286"/>
            <a:ext cx="4486289" cy="374077"/>
          </a:xfrm>
          <a:prstGeom prst="bentConnector3">
            <a:avLst>
              <a:gd name="adj1" fmla="val 50000"/>
            </a:avLst>
          </a:prstGeom>
          <a:ln w="63500">
            <a:solidFill>
              <a:srgbClr val="00B0F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A6D9428-6AEF-C338-402D-F30CB4A45F04}"/>
              </a:ext>
            </a:extLst>
          </p:cNvPr>
          <p:cNvSpPr txBox="1"/>
          <p:nvPr/>
        </p:nvSpPr>
        <p:spPr>
          <a:xfrm>
            <a:off x="2503847" y="3430741"/>
            <a:ext cx="274370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図形（寸法等文字情報）</a:t>
            </a:r>
            <a:endParaRPr kumimoji="1" lang="en-US" altLang="ja-JP" dirty="0"/>
          </a:p>
          <a:p>
            <a:r>
              <a:rPr kumimoji="1" lang="en-US" altLang="ja-JP" dirty="0"/>
              <a:t>※DWG</a:t>
            </a:r>
            <a:r>
              <a:rPr kumimoji="1" lang="ja-JP" altLang="en-US" dirty="0"/>
              <a:t>のｲﾝﾎﾟｰﾄ機能</a:t>
            </a:r>
            <a:endParaRPr kumimoji="1" lang="en-US" altLang="ja-JP" dirty="0"/>
          </a:p>
        </p:txBody>
      </p:sp>
      <p:grpSp>
        <p:nvGrpSpPr>
          <p:cNvPr id="105" name="グループ化 104">
            <a:extLst>
              <a:ext uri="{FF2B5EF4-FFF2-40B4-BE49-F238E27FC236}">
                <a16:creationId xmlns:a16="http://schemas.microsoft.com/office/drawing/2014/main" id="{B80547EC-0900-5927-D2A2-E22A9D2A7081}"/>
              </a:ext>
            </a:extLst>
          </p:cNvPr>
          <p:cNvGrpSpPr/>
          <p:nvPr/>
        </p:nvGrpSpPr>
        <p:grpSpPr>
          <a:xfrm>
            <a:off x="542172" y="3928256"/>
            <a:ext cx="3598087" cy="2768379"/>
            <a:chOff x="963285" y="3828973"/>
            <a:chExt cx="3598087" cy="2768379"/>
          </a:xfrm>
        </p:grpSpPr>
        <p:sp>
          <p:nvSpPr>
            <p:cNvPr id="71" name="四角形: 角を丸くする 70">
              <a:extLst>
                <a:ext uri="{FF2B5EF4-FFF2-40B4-BE49-F238E27FC236}">
                  <a16:creationId xmlns:a16="http://schemas.microsoft.com/office/drawing/2014/main" id="{FC503A3B-6CF2-DED2-32DC-AADDEA55FF66}"/>
                </a:ext>
              </a:extLst>
            </p:cNvPr>
            <p:cNvSpPr/>
            <p:nvPr/>
          </p:nvSpPr>
          <p:spPr>
            <a:xfrm>
              <a:off x="1056739" y="4078655"/>
              <a:ext cx="3504633" cy="2518697"/>
            </a:xfrm>
            <a:prstGeom prst="roundRect">
              <a:avLst>
                <a:gd name="adj" fmla="val 19858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ja-JP" altLang="en-US" sz="2000" dirty="0">
                <a:solidFill>
                  <a:srgbClr val="FF0000"/>
                </a:solidFill>
                <a:latin typeface="+mn-ea"/>
              </a:endParaRPr>
            </a:p>
          </p:txBody>
        </p:sp>
        <p:pic>
          <p:nvPicPr>
            <p:cNvPr id="110" name="グラフィックス 109">
              <a:extLst>
                <a:ext uri="{FF2B5EF4-FFF2-40B4-BE49-F238E27FC236}">
                  <a16:creationId xmlns:a16="http://schemas.microsoft.com/office/drawing/2014/main" id="{98C1F346-A57C-6625-6419-42F0119382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721687" y="4033171"/>
              <a:ext cx="2029381" cy="971184"/>
            </a:xfrm>
            <a:prstGeom prst="rect">
              <a:avLst/>
            </a:prstGeom>
          </p:spPr>
        </p:pic>
        <p:sp>
          <p:nvSpPr>
            <p:cNvPr id="111" name="四角形: 角を丸くする 110">
              <a:extLst>
                <a:ext uri="{FF2B5EF4-FFF2-40B4-BE49-F238E27FC236}">
                  <a16:creationId xmlns:a16="http://schemas.microsoft.com/office/drawing/2014/main" id="{3F7500C3-3DD8-E061-7E5A-D62AECDF3C02}"/>
                </a:ext>
              </a:extLst>
            </p:cNvPr>
            <p:cNvSpPr/>
            <p:nvPr/>
          </p:nvSpPr>
          <p:spPr>
            <a:xfrm>
              <a:off x="963285" y="3828973"/>
              <a:ext cx="1516804" cy="408057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誰でも利用可能</a:t>
              </a:r>
            </a:p>
          </p:txBody>
        </p: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2C5B01F9-BF32-45BE-D9BC-47AEDF48A08B}"/>
                </a:ext>
              </a:extLst>
            </p:cNvPr>
            <p:cNvCxnSpPr>
              <a:cxnSpLocks/>
            </p:cNvCxnSpPr>
            <p:nvPr/>
          </p:nvCxnSpPr>
          <p:spPr>
            <a:xfrm>
              <a:off x="1056739" y="4860679"/>
              <a:ext cx="3494366" cy="1358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sp>
          <p:nvSpPr>
            <p:cNvPr id="66" name="テキスト ボックス 65">
              <a:extLst>
                <a:ext uri="{FF2B5EF4-FFF2-40B4-BE49-F238E27FC236}">
                  <a16:creationId xmlns:a16="http://schemas.microsoft.com/office/drawing/2014/main" id="{1F62C47F-8143-3211-29C8-FC8DD026283E}"/>
                </a:ext>
              </a:extLst>
            </p:cNvPr>
            <p:cNvSpPr txBox="1"/>
            <p:nvPr/>
          </p:nvSpPr>
          <p:spPr>
            <a:xfrm>
              <a:off x="1102197" y="4973416"/>
              <a:ext cx="3448908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dirty="0"/>
                <a:t>・複雑な情報を整理</a:t>
              </a:r>
              <a:endParaRPr kumimoji="1" lang="en-US" altLang="ja-JP" dirty="0"/>
            </a:p>
            <a:p>
              <a:r>
                <a:rPr kumimoji="1" lang="ja-JP" altLang="en-US" dirty="0"/>
                <a:t>・位置情報による見える化</a:t>
              </a:r>
              <a:endParaRPr kumimoji="1" lang="en-US" altLang="ja-JP" dirty="0"/>
            </a:p>
            <a:p>
              <a:r>
                <a:rPr kumimoji="1" lang="ja-JP" altLang="en-US" dirty="0"/>
                <a:t>・高品質な報告書作成効率化</a:t>
              </a:r>
              <a:endParaRPr kumimoji="1" lang="en-US" altLang="ja-JP" dirty="0"/>
            </a:p>
            <a:p>
              <a:r>
                <a:rPr kumimoji="1" lang="ja-JP" altLang="en-US" dirty="0"/>
                <a:t>・多彩なデータ変換機能</a:t>
              </a:r>
              <a:endParaRPr kumimoji="1" lang="en-US" altLang="ja-JP" dirty="0"/>
            </a:p>
            <a:p>
              <a:r>
                <a:rPr kumimoji="1" lang="ja-JP" altLang="en-US" dirty="0"/>
                <a:t>・他システムとの連携</a:t>
              </a:r>
            </a:p>
          </p:txBody>
        </p:sp>
      </p:grpSp>
      <p:sp>
        <p:nvSpPr>
          <p:cNvPr id="106" name="テキスト ボックス 105">
            <a:extLst>
              <a:ext uri="{FF2B5EF4-FFF2-40B4-BE49-F238E27FC236}">
                <a16:creationId xmlns:a16="http://schemas.microsoft.com/office/drawing/2014/main" id="{5E75DC51-510A-856B-ED5B-9156364E62D4}"/>
              </a:ext>
            </a:extLst>
          </p:cNvPr>
          <p:cNvSpPr txBox="1"/>
          <p:nvPr/>
        </p:nvSpPr>
        <p:spPr>
          <a:xfrm>
            <a:off x="4451506" y="5878102"/>
            <a:ext cx="34116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GEOJSON/XYZ</a:t>
            </a:r>
            <a:r>
              <a:rPr kumimoji="1" lang="ja-JP" altLang="en-US" dirty="0"/>
              <a:t>（高速化</a:t>
            </a:r>
            <a:r>
              <a:rPr kumimoji="1" lang="en-US" altLang="ja-JP" dirty="0"/>
              <a:t>96DPI</a:t>
            </a:r>
            <a:r>
              <a:rPr kumimoji="1" lang="ja-JP" altLang="en-US" dirty="0"/>
              <a:t>）</a:t>
            </a:r>
            <a:endParaRPr kumimoji="1" lang="en-US" altLang="ja-JP" dirty="0"/>
          </a:p>
        </p:txBody>
      </p:sp>
      <p:pic>
        <p:nvPicPr>
          <p:cNvPr id="116" name="図 115">
            <a:extLst>
              <a:ext uri="{FF2B5EF4-FFF2-40B4-BE49-F238E27FC236}">
                <a16:creationId xmlns:a16="http://schemas.microsoft.com/office/drawing/2014/main" id="{D56011AE-8EB0-919B-BAA1-FDBF05D265A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77781" y="551040"/>
            <a:ext cx="1070055" cy="579885"/>
          </a:xfrm>
          <a:prstGeom prst="rect">
            <a:avLst/>
          </a:prstGeom>
          <a:ln w="41275">
            <a:solidFill>
              <a:srgbClr val="0000FF"/>
            </a:solidFill>
          </a:ln>
        </p:spPr>
      </p:pic>
      <p:pic>
        <p:nvPicPr>
          <p:cNvPr id="117" name="図 116">
            <a:extLst>
              <a:ext uri="{FF2B5EF4-FFF2-40B4-BE49-F238E27FC236}">
                <a16:creationId xmlns:a16="http://schemas.microsoft.com/office/drawing/2014/main" id="{DEA461B6-E608-F327-6CE3-4ED1F03FDE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51652" y="6204655"/>
            <a:ext cx="1120912" cy="381849"/>
          </a:xfrm>
          <a:prstGeom prst="rect">
            <a:avLst/>
          </a:prstGeom>
        </p:spPr>
      </p:pic>
      <p:pic>
        <p:nvPicPr>
          <p:cNvPr id="118" name="Picture 2">
            <a:extLst>
              <a:ext uri="{FF2B5EF4-FFF2-40B4-BE49-F238E27FC236}">
                <a16:creationId xmlns:a16="http://schemas.microsoft.com/office/drawing/2014/main" id="{CA067CEC-EE2E-8DD0-B29E-8E4224265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779" y="4061864"/>
            <a:ext cx="735288" cy="73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6" name="グループ化 125">
            <a:extLst>
              <a:ext uri="{FF2B5EF4-FFF2-40B4-BE49-F238E27FC236}">
                <a16:creationId xmlns:a16="http://schemas.microsoft.com/office/drawing/2014/main" id="{B4C0DB08-DE37-829C-EFA8-62B48AFA70E9}"/>
              </a:ext>
            </a:extLst>
          </p:cNvPr>
          <p:cNvGrpSpPr/>
          <p:nvPr/>
        </p:nvGrpSpPr>
        <p:grpSpPr>
          <a:xfrm>
            <a:off x="6464062" y="3121392"/>
            <a:ext cx="1878011" cy="600755"/>
            <a:chOff x="4662156" y="4181974"/>
            <a:chExt cx="2440857" cy="600755"/>
          </a:xfrm>
        </p:grpSpPr>
        <p:sp>
          <p:nvSpPr>
            <p:cNvPr id="125" name="四角形: 角を丸くする 124">
              <a:extLst>
                <a:ext uri="{FF2B5EF4-FFF2-40B4-BE49-F238E27FC236}">
                  <a16:creationId xmlns:a16="http://schemas.microsoft.com/office/drawing/2014/main" id="{4F97201E-A085-E2DC-8911-6DD44070CE7D}"/>
                </a:ext>
              </a:extLst>
            </p:cNvPr>
            <p:cNvSpPr/>
            <p:nvPr/>
          </p:nvSpPr>
          <p:spPr>
            <a:xfrm>
              <a:off x="4662156" y="4181974"/>
              <a:ext cx="2440857" cy="600755"/>
            </a:xfrm>
            <a:prstGeom prst="roundRect">
              <a:avLst>
                <a:gd name="adj" fmla="val 19858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ja-JP" altLang="en-US" sz="2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8931E2B4-B2E0-DEED-CCBE-7186DCA4526F}"/>
                </a:ext>
              </a:extLst>
            </p:cNvPr>
            <p:cNvSpPr txBox="1"/>
            <p:nvPr/>
          </p:nvSpPr>
          <p:spPr>
            <a:xfrm>
              <a:off x="4950051" y="4294195"/>
              <a:ext cx="175171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dirty="0"/>
                <a:t>点群データ</a:t>
              </a:r>
            </a:p>
          </p:txBody>
        </p:sp>
      </p:grpSp>
      <p:cxnSp>
        <p:nvCxnSpPr>
          <p:cNvPr id="127" name="コネクタ: カギ線 126">
            <a:extLst>
              <a:ext uri="{FF2B5EF4-FFF2-40B4-BE49-F238E27FC236}">
                <a16:creationId xmlns:a16="http://schemas.microsoft.com/office/drawing/2014/main" id="{58DF3F3F-298C-53FB-E916-C7F4B22F8C69}"/>
              </a:ext>
            </a:extLst>
          </p:cNvPr>
          <p:cNvCxnSpPr>
            <a:cxnSpLocks/>
            <a:stCxn id="125" idx="2"/>
            <a:endCxn id="1028" idx="1"/>
          </p:cNvCxnSpPr>
          <p:nvPr/>
        </p:nvCxnSpPr>
        <p:spPr>
          <a:xfrm rot="16200000" flipH="1">
            <a:off x="7658579" y="3466636"/>
            <a:ext cx="702190" cy="1213212"/>
          </a:xfrm>
          <a:prstGeom prst="bentConnector2">
            <a:avLst/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7" name="コネクタ: カギ線 1026">
            <a:extLst>
              <a:ext uri="{FF2B5EF4-FFF2-40B4-BE49-F238E27FC236}">
                <a16:creationId xmlns:a16="http://schemas.microsoft.com/office/drawing/2014/main" id="{33DBF6CB-A7DA-F327-CFFD-0231504CA766}"/>
              </a:ext>
            </a:extLst>
          </p:cNvPr>
          <p:cNvCxnSpPr>
            <a:cxnSpLocks/>
            <a:stCxn id="125" idx="2"/>
            <a:endCxn id="118" idx="3"/>
          </p:cNvCxnSpPr>
          <p:nvPr/>
        </p:nvCxnSpPr>
        <p:spPr>
          <a:xfrm rot="5400000">
            <a:off x="5529888" y="2556327"/>
            <a:ext cx="707361" cy="3039001"/>
          </a:xfrm>
          <a:prstGeom prst="bentConnector2">
            <a:avLst/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コネクタ: カギ線 1030">
            <a:extLst>
              <a:ext uri="{FF2B5EF4-FFF2-40B4-BE49-F238E27FC236}">
                <a16:creationId xmlns:a16="http://schemas.microsoft.com/office/drawing/2014/main" id="{0C307B0B-0111-7686-4426-65FB3E3BE7BE}"/>
              </a:ext>
            </a:extLst>
          </p:cNvPr>
          <p:cNvCxnSpPr>
            <a:cxnSpLocks/>
            <a:stCxn id="125" idx="0"/>
          </p:cNvCxnSpPr>
          <p:nvPr/>
        </p:nvCxnSpPr>
        <p:spPr>
          <a:xfrm rot="5400000" flipH="1" flipV="1">
            <a:off x="7885724" y="2391270"/>
            <a:ext cx="247466" cy="1212779"/>
          </a:xfrm>
          <a:prstGeom prst="bentConnector2">
            <a:avLst/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1" name="テキスト ボックス 1040">
            <a:extLst>
              <a:ext uri="{FF2B5EF4-FFF2-40B4-BE49-F238E27FC236}">
                <a16:creationId xmlns:a16="http://schemas.microsoft.com/office/drawing/2014/main" id="{AAFD753B-E32A-4D4F-4862-CA2361DEB09E}"/>
              </a:ext>
            </a:extLst>
          </p:cNvPr>
          <p:cNvSpPr txBox="1"/>
          <p:nvPr/>
        </p:nvSpPr>
        <p:spPr>
          <a:xfrm>
            <a:off x="8548129" y="1249623"/>
            <a:ext cx="181832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データ共有基盤</a:t>
            </a:r>
            <a:endParaRPr kumimoji="1" lang="en-US" altLang="ja-JP" dirty="0"/>
          </a:p>
        </p:txBody>
      </p:sp>
      <p:pic>
        <p:nvPicPr>
          <p:cNvPr id="1053" name="Picture 5">
            <a:extLst>
              <a:ext uri="{FF2B5EF4-FFF2-40B4-BE49-F238E27FC236}">
                <a16:creationId xmlns:a16="http://schemas.microsoft.com/office/drawing/2014/main" id="{AF695F4C-4302-96C7-120D-8DC215631B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120" r="60486" b="35596"/>
          <a:stretch/>
        </p:blipFill>
        <p:spPr bwMode="auto">
          <a:xfrm>
            <a:off x="557303" y="815416"/>
            <a:ext cx="1954255" cy="838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四角形: 角を丸くする 1053">
            <a:extLst>
              <a:ext uri="{FF2B5EF4-FFF2-40B4-BE49-F238E27FC236}">
                <a16:creationId xmlns:a16="http://schemas.microsoft.com/office/drawing/2014/main" id="{70093055-6531-15EB-E490-E78FA291CCFC}"/>
              </a:ext>
            </a:extLst>
          </p:cNvPr>
          <p:cNvSpPr/>
          <p:nvPr/>
        </p:nvSpPr>
        <p:spPr>
          <a:xfrm>
            <a:off x="10624584" y="3721075"/>
            <a:ext cx="954279" cy="40805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VR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34659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ファセット">
  <a:themeElements>
    <a:clrScheme name="ファセット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ファセット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ファセッ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TM02900688[[fn=ファセット]]</Template>
  <TotalTime>297</TotalTime>
  <Words>106</Words>
  <Application>Microsoft Office PowerPoint</Application>
  <PresentationFormat>ワイド画面</PresentationFormat>
  <Paragraphs>59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ＭＳ ゴシック</vt:lpstr>
      <vt:lpstr>游ゴシック</vt:lpstr>
      <vt:lpstr>Arial</vt:lpstr>
      <vt:lpstr>Trebuchet MS</vt:lpstr>
      <vt:lpstr>Wingdings 3</vt:lpstr>
      <vt:lpstr>ファセット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山本竜三</dc:creator>
  <cp:lastModifiedBy>竜三 山本</cp:lastModifiedBy>
  <cp:revision>19</cp:revision>
  <cp:lastPrinted>2025-04-12T02:22:05Z</cp:lastPrinted>
  <dcterms:created xsi:type="dcterms:W3CDTF">2021-01-28T13:14:00Z</dcterms:created>
  <dcterms:modified xsi:type="dcterms:W3CDTF">2025-11-27T14:43:24Z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1709AFD63A624E308540C86CB0C77DA9_12</vt:lpwstr>
  </property>
  <property fmtid="{D5CDD505-2E9C-101B-9397-08002B2CF9AE}" pid="3" name="KSOProductBuildVer">
    <vt:lpwstr>1041-12.2.0.13110</vt:lpwstr>
  </property>
</Properties>
</file>